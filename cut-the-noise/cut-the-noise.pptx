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1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6858000" cx="12192000"/>
  <p:notesSz cx="6858000" cy="9144000"/>
  <p:embeddedFontLst>
    <p:embeddedFont>
      <p:font typeface="Short Stack"/>
      <p:regular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1"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E4B92CB-4316-47DC-888B-EC2EFB08D64F}">
  <a:tblStyle styleId="{4E4B92CB-4316-47DC-888B-EC2EFB08D64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ShortStack-regular.fntdata"/><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5:33.001">
    <p:pos x="6000" y="0"/>
    <p:text>how do you determine riskiness?</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16:37.562">
    <p:pos x="6000" y="0"/>
    <p:text>not sure this needs it's own slide? I like the next slide about "here's where the creative work is now"</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1"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0" name="Google Shape;15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7" name="Google Shape;15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5" name="Google Shape;16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3" name="Google Shape;17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implemented a version of this inside our own agentic review system to identify common risk patterns from our own work. We flag changes that change schemas, touch money movement, </a:t>
            </a:r>
            <a:endParaRPr/>
          </a:p>
        </p:txBody>
      </p:sp>
      <p:sp>
        <p:nvSpPr>
          <p:cNvPr id="181" name="Google Shape;18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9" name="Google Shape;18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7" name="Google Shape;19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3" name="Google Shape;20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0" name="Google Shape;21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8" name="Google Shape;21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4" name="Google Shape;22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0" name="Google Shape;23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6" name="Google Shape;23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1.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17.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jp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29.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github.com/block/review"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comments" Target="../comments/comment8.xml"/><Relationship Id="rId4" Type="http://schemas.openxmlformats.org/officeDocument/2006/relationships/image" Target="../media/image23.png"/><Relationship Id="rId5"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9.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10.xml"/><Relationship Id="rId4" Type="http://schemas.openxmlformats.org/officeDocument/2006/relationships/image" Target="../media/image26.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1.xml"/><Relationship Id="rId4" Type="http://schemas.openxmlformats.org/officeDocument/2006/relationships/image" Target="../media/image27.png"/><Relationship Id="rId5" Type="http://schemas.openxmlformats.org/officeDocument/2006/relationships/hyperlink" Target="https://joahg.dev/cut-the-noise" TargetMode="External"/><Relationship Id="rId6"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 name="Shape 41"/>
        <p:cNvGrpSpPr/>
        <p:nvPr/>
      </p:nvGrpSpPr>
      <p:grpSpPr>
        <a:xfrm>
          <a:off x="0" y="0"/>
          <a:ext cx="0" cy="0"/>
          <a:chOff x="0" y="0"/>
          <a:chExt cx="0" cy="0"/>
        </a:xfrm>
      </p:grpSpPr>
      <p:pic>
        <p:nvPicPr>
          <p:cNvPr id="42" name="Google Shape;42;p10" title="title-v72.png"/>
          <p:cNvPicPr preferRelativeResize="0"/>
          <p:nvPr/>
        </p:nvPicPr>
        <p:blipFill rotWithShape="1">
          <a:blip r:embed="rId3">
            <a:alphaModFix/>
          </a:blip>
          <a:srcRect b="0" l="0" r="0" t="0"/>
          <a:stretch/>
        </p:blipFill>
        <p:spPr>
          <a:xfrm>
            <a:off x="3239" y="0"/>
            <a:ext cx="12185523" cy="6858001"/>
          </a:xfrm>
          <a:prstGeom prst="rect">
            <a:avLst/>
          </a:prstGeom>
          <a:noFill/>
          <a:ln>
            <a:noFill/>
          </a:ln>
        </p:spPr>
      </p:pic>
      <p:sp>
        <p:nvSpPr>
          <p:cNvPr id="43" name="Google Shape;43;p10"/>
          <p:cNvSpPr txBox="1"/>
          <p:nvPr/>
        </p:nvSpPr>
        <p:spPr>
          <a:xfrm>
            <a:off x="8046720" y="5779008"/>
            <a:ext cx="36576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400">
                <a:solidFill>
                  <a:srgbClr val="111111"/>
                </a:solidFill>
                <a:latin typeface="Short Stack"/>
                <a:ea typeface="Short Stack"/>
                <a:cs typeface="Short Stack"/>
                <a:sym typeface="Short Stack"/>
              </a:rPr>
              <a:t>Joah Gerstenberg</a:t>
            </a:r>
            <a:endParaRPr sz="2400">
              <a:solidFill>
                <a:srgbClr val="111111"/>
              </a:solidFill>
              <a:latin typeface="Short Stack"/>
              <a:ea typeface="Short Stack"/>
              <a:cs typeface="Short Stack"/>
              <a:sym typeface="Short Stack"/>
            </a:endParaRPr>
          </a:p>
        </p:txBody>
      </p:sp>
      <p:pic>
        <p:nvPicPr>
          <p:cNvPr id="44" name="Google Shape;44;p10"/>
          <p:cNvPicPr preferRelativeResize="0"/>
          <p:nvPr/>
        </p:nvPicPr>
        <p:blipFill>
          <a:blip r:embed="rId4">
            <a:alphaModFix/>
          </a:blip>
          <a:stretch>
            <a:fillRect/>
          </a:stretch>
        </p:blipFill>
        <p:spPr>
          <a:xfrm>
            <a:off x="8138160" y="6291072"/>
            <a:ext cx="411480" cy="411480"/>
          </a:xfrm>
          <a:prstGeom prst="rect">
            <a:avLst/>
          </a:prstGeom>
          <a:noFill/>
          <a:ln>
            <a:noFill/>
          </a:ln>
        </p:spPr>
      </p:pic>
      <p:pic>
        <p:nvPicPr>
          <p:cNvPr id="45" name="Google Shape;45;p10"/>
          <p:cNvPicPr preferRelativeResize="0"/>
          <p:nvPr/>
        </p:nvPicPr>
        <p:blipFill>
          <a:blip r:embed="rId5">
            <a:alphaModFix/>
          </a:blip>
          <a:stretch>
            <a:fillRect/>
          </a:stretch>
        </p:blipFill>
        <p:spPr>
          <a:xfrm>
            <a:off x="8869680" y="6291072"/>
            <a:ext cx="411480" cy="411480"/>
          </a:xfrm>
          <a:prstGeom prst="rect">
            <a:avLst/>
          </a:prstGeom>
          <a:noFill/>
          <a:ln>
            <a:noFill/>
          </a:ln>
        </p:spPr>
      </p:pic>
      <p:pic>
        <p:nvPicPr>
          <p:cNvPr id="46" name="Google Shape;46;p10"/>
          <p:cNvPicPr preferRelativeResize="0"/>
          <p:nvPr/>
        </p:nvPicPr>
        <p:blipFill>
          <a:blip r:embed="rId6">
            <a:alphaModFix/>
          </a:blip>
          <a:stretch>
            <a:fillRect/>
          </a:stretch>
        </p:blipFill>
        <p:spPr>
          <a:xfrm>
            <a:off x="9601200" y="6291072"/>
            <a:ext cx="411480" cy="411480"/>
          </a:xfrm>
          <a:prstGeom prst="rect">
            <a:avLst/>
          </a:prstGeom>
          <a:noFill/>
          <a:ln>
            <a:noFill/>
          </a:ln>
        </p:spPr>
      </p:pic>
      <p:pic>
        <p:nvPicPr>
          <p:cNvPr id="47" name="Google Shape;47;p10"/>
          <p:cNvPicPr preferRelativeResize="0"/>
          <p:nvPr/>
        </p:nvPicPr>
        <p:blipFill>
          <a:blip r:embed="rId7">
            <a:alphaModFix/>
          </a:blip>
          <a:stretch>
            <a:fillRect/>
          </a:stretch>
        </p:blipFill>
        <p:spPr>
          <a:xfrm>
            <a:off x="10332720" y="6318504"/>
            <a:ext cx="548641" cy="365759"/>
          </a:xfrm>
          <a:prstGeom prst="rect">
            <a:avLst/>
          </a:prstGeom>
          <a:noFill/>
          <a:ln>
            <a:noFill/>
          </a:ln>
        </p:spPr>
      </p:pic>
      <p:pic>
        <p:nvPicPr>
          <p:cNvPr id="48" name="Google Shape;48;p10"/>
          <p:cNvPicPr preferRelativeResize="0"/>
          <p:nvPr/>
        </p:nvPicPr>
        <p:blipFill>
          <a:blip r:embed="rId8">
            <a:alphaModFix/>
          </a:blip>
          <a:stretch>
            <a:fillRect/>
          </a:stretch>
        </p:blipFill>
        <p:spPr>
          <a:xfrm>
            <a:off x="11064240" y="6217920"/>
            <a:ext cx="548640" cy="54864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p:cNvPicPr preferRelativeResize="0"/>
          <p:nvPr/>
        </p:nvPicPr>
        <p:blipFill rotWithShape="1">
          <a:blip r:embed="rId3">
            <a:alphaModFix/>
          </a:blip>
          <a:srcRect b="14485" l="1813" r="2758" t="11083"/>
          <a:stretch/>
        </p:blipFill>
        <p:spPr>
          <a:xfrm>
            <a:off x="2122650" y="897839"/>
            <a:ext cx="7946700" cy="439557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p:cNvPicPr preferRelativeResize="0"/>
          <p:nvPr/>
        </p:nvPicPr>
        <p:blipFill rotWithShape="1">
          <a:blip r:embed="rId4">
            <a:alphaModFix/>
          </a:blip>
          <a:srcRect b="13078" l="846" r="451" t="17926"/>
          <a:stretch/>
        </p:blipFill>
        <p:spPr>
          <a:xfrm>
            <a:off x="972178" y="1304775"/>
            <a:ext cx="10247644" cy="3581701"/>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p:cNvPicPr preferRelativeResize="0"/>
          <p:nvPr/>
        </p:nvPicPr>
        <p:blipFill rotWithShape="1">
          <a:blip r:embed="rId3">
            <a:alphaModFix/>
          </a:blip>
          <a:srcRect b="7400" l="0" r="0" t="0"/>
          <a:stretch/>
        </p:blipFill>
        <p:spPr>
          <a:xfrm>
            <a:off x="2372545" y="1703799"/>
            <a:ext cx="7434499" cy="3872392"/>
          </a:xfrm>
          <a:prstGeom prst="rect">
            <a:avLst/>
          </a:prstGeom>
          <a:noFill/>
          <a:ln>
            <a:noFill/>
          </a:ln>
        </p:spPr>
      </p:pic>
      <p:pic>
        <p:nvPicPr>
          <p:cNvPr id="145" name="Google Shape;145;p24"/>
          <p:cNvPicPr preferRelativeResize="0"/>
          <p:nvPr/>
        </p:nvPicPr>
        <p:blipFill rotWithShape="1">
          <a:blip r:embed="rId4">
            <a:alphaModFix/>
          </a:blip>
          <a:srcRect b="0" l="0" r="0" t="0"/>
          <a:stretch/>
        </p:blipFill>
        <p:spPr>
          <a:xfrm>
            <a:off x="2070327" y="909462"/>
            <a:ext cx="8051344" cy="5039075"/>
          </a:xfrm>
          <a:prstGeom prst="rect">
            <a:avLst/>
          </a:prstGeom>
          <a:noFill/>
          <a:ln>
            <a:noFill/>
          </a:ln>
        </p:spPr>
      </p:pic>
      <p:sp>
        <p:nvSpPr>
          <p:cNvPr id="146" name="Google Shape;146;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pic>
        <p:nvPicPr>
          <p:cNvPr id="152" name="Google Shape;152;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3" name="Google Shape;153;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pic>
        <p:nvPicPr>
          <p:cNvPr id="159" name="Google Shape;159;p26" title="specialists-v72.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0" name="Google Shape;160;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1" name="Google Shape;161;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pic>
        <p:nvPicPr>
          <p:cNvPr id="167" name="Google Shape;167;p27" title="architecture-clean-v72.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8" name="Google Shape;168;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9" name="Google Shape;169;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graphicFrame>
        <p:nvGraphicFramePr>
          <p:cNvPr id="175" name="Google Shape;175;p28"/>
          <p:cNvGraphicFramePr/>
          <p:nvPr/>
        </p:nvGraphicFramePr>
        <p:xfrm>
          <a:off x="3619500" y="2375788"/>
          <a:ext cx="3000000" cy="3000000"/>
        </p:xfrm>
        <a:graphic>
          <a:graphicData uri="http://schemas.openxmlformats.org/drawingml/2006/table">
            <a:tbl>
              <a:tblPr>
                <a:noFill/>
                <a:tableStyleId>{4E4B92CB-4316-47DC-888B-EC2EFB08D64F}</a:tableStyleId>
              </a:tblPr>
              <a:tblGrid>
                <a:gridCol w="340000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block/review, all findings</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91.5%</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44.4%</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59.8%</a:t>
                      </a:r>
                      <a:endParaRPr/>
                    </a:p>
                  </a:txBody>
                  <a:tcPr marT="114300" marB="95250" marR="76200" marL="114300">
                    <a:solidFill>
                      <a:srgbClr val="FFFFFF"/>
                    </a:solidFill>
                  </a:tcPr>
                </a:tc>
              </a:tr>
              <a:tr h="678650">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block/review, high confidence</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96.6%</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21.9%</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35.7%</a:t>
                      </a:r>
                      <a:endParaRPr sz="1575">
                        <a:solidFill>
                          <a:srgbClr val="182C36"/>
                        </a:solidFill>
                        <a:latin typeface="Avenir"/>
                        <a:ea typeface="Avenir"/>
                        <a:cs typeface="Avenir"/>
                        <a:sym typeface="Aveni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 Review</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76" name="Google Shape;176;p28"/>
          <p:cNvSpPr/>
          <p:nvPr/>
        </p:nvSpPr>
        <p:spPr>
          <a:xfrm>
            <a:off x="3667125" y="1756663"/>
            <a:ext cx="48579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100">
                <a:solidFill>
                  <a:srgbClr val="111111"/>
                </a:solidFill>
                <a:latin typeface="Short Stack"/>
                <a:ea typeface="Short Stack"/>
                <a:cs typeface="Short Stack"/>
                <a:sym typeface="Short Stack"/>
              </a:rPr>
              <a:t>Grounded scores</a:t>
            </a:r>
            <a:endParaRPr/>
          </a:p>
        </p:txBody>
      </p:sp>
      <p:sp>
        <p:nvSpPr>
          <p:cNvPr id="177" name="Google Shape;177;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on GitHub · 21 of 25 test PRs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pic>
        <p:nvPicPr>
          <p:cNvPr id="183" name="Google Shape;183;p29" title="tiering-v72.png"/>
          <p:cNvPicPr preferRelativeResize="0"/>
          <p:nvPr/>
        </p:nvPicPr>
        <p:blipFill>
          <a:blip r:embed="rId4">
            <a:alphaModFix/>
          </a:blip>
          <a:stretch>
            <a:fillRect/>
          </a:stretch>
        </p:blipFill>
        <p:spPr>
          <a:xfrm>
            <a:off x="804672" y="0"/>
            <a:ext cx="10579609" cy="5952745"/>
          </a:xfrm>
          <a:prstGeom prst="rect">
            <a:avLst/>
          </a:prstGeom>
          <a:noFill/>
          <a:ln>
            <a:noFill/>
          </a:ln>
        </p:spPr>
      </p:pic>
      <p:sp>
        <p:nvSpPr>
          <p:cNvPr id="184" name="Google Shape;184;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5" name="Google Shape;185;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2" name="Google Shape;192;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3" name="Google Shape;193;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pic>
        <p:nvPicPr>
          <p:cNvPr id="199" name="Google Shape;199;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pic>
        <p:nvPicPr>
          <p:cNvPr id="205" name="Google Shape;205;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6" name="Google Shape;206;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pic>
        <p:nvPicPr>
          <p:cNvPr id="212" name="Google Shape;212;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3" name="Google Shape;213;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4" name="Google Shape;214;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Prioritize precision</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over recall</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 name="Shape 225"/>
        <p:cNvGrpSpPr/>
        <p:nvPr/>
      </p:nvGrpSpPr>
      <p:grpSpPr>
        <a:xfrm>
          <a:off x="0" y="0"/>
          <a:ext cx="0" cy="0"/>
          <a:chOff x="0" y="0"/>
          <a:chExt cx="0" cy="0"/>
        </a:xfrm>
      </p:grpSpPr>
      <p:sp>
        <p:nvSpPr>
          <p:cNvPr id="226" name="Google Shape;226;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Give your agents</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the big picture</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 name="Shape 231"/>
        <p:cNvGrpSpPr/>
        <p:nvPr/>
      </p:nvGrpSpPr>
      <p:grpSpPr>
        <a:xfrm>
          <a:off x="0" y="0"/>
          <a:ext cx="0" cy="0"/>
          <a:chOff x="0" y="0"/>
          <a:chExt cx="0" cy="0"/>
        </a:xfrm>
      </p:grpSpPr>
      <p:sp>
        <p:nvSpPr>
          <p:cNvPr id="232" name="Google Shape;232;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Build alignment</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before the code is written</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 name="Shape 237"/>
        <p:cNvGrpSpPr/>
        <p:nvPr/>
      </p:nvGrpSpPr>
      <p:grpSpPr>
        <a:xfrm>
          <a:off x="0" y="0"/>
          <a:ext cx="0" cy="0"/>
          <a:chOff x="0" y="0"/>
          <a:chExt cx="0" cy="0"/>
        </a:xfrm>
      </p:grpSpPr>
      <p:pic>
        <p:nvPicPr>
          <p:cNvPr id="238" name="Google Shape;238;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9" name="Google Shape;239;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0" name="Google Shape;240;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