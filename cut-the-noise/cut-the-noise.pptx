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Short Stack"/>
      <p:regular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466A94-7B71-4218-8355-6090729BF4FA}">
  <a:tblStyle styleId="{F3466A94-7B71-4218-8355-6090729BF4FA}"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ShortStack-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[Who here remembers / Do you remember] last November? The dodgers won the world series? the US treasury minted its last penny? What I remember is this: we had all been experimenting with AI coding tools for awhile, but no one was quite to the point of always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 had coworkers running scripts that deleted all the reviewer’s comments because they were so bad. As soon as I saw GPT 5 1’s Swee Bench scores, I knew we needed to be investing more in AI code review. Not only did our code reviewer finally have a chance at being something we could trust, it would have to be, since the code it’s </a:t>
            </a:r>
            <a:r>
              <a:rPr lang="en-US"/>
              <a:t>reviewing</a:t>
            </a:r>
            <a:r>
              <a:rPr lang="en-US"/>
              <a:t> is finally something trustable.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building intelligent agents that we can trust to safely make changes to production without asking for help.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you expected it to while not introducing new bugs or vulnerabilities, we have to infuse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Who here remembers the good ole days? (For the vibecoders in the room, this is what Claude is remembering when it says it’ll take six weeks to implement OAuth.)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But, we still couldn’t start shipping faster. We were still being asked to give our stamp of approval on every change that went out, and we weren’t willing to take on the risks of exposing our customers and simply start shipping everything that our agents produced. Production has increased, and now review is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Engineers today are reviewing many times more code than they were being asked to only a year ago. </a:t>
            </a:r>
            <a:r>
              <a:rPr lang="en-US">
                <a:solidFill>
                  <a:schemeClr val="dk1"/>
                </a:solidFill>
              </a:rPr>
              <a:t>There is simply no way to read code at the rate that it is produced now, and w</a:t>
            </a:r>
            <a:r>
              <a:rPr lang="en-US"/>
              <a:t>hether we like it or not, we are each delegating trust to the agents writing the code and trusting that it behaves as we expect.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 name="Google Shape;66;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 picture?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t/>
            </a:r>
            <a:endParaRPr/>
          </a:p>
        </p:txBody>
      </p:sp>
      <p:sp>
        <p:nvSpPr>
          <p:cNvPr id="67" name="Google Shape;67;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cappuccino.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job of our job. </a:t>
            </a:r>
            <a:endParaRPr/>
          </a:p>
        </p:txBody>
      </p:sp>
      <p:sp>
        <p:nvSpPr>
          <p:cNvPr id="74" name="Google Shape;7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 name="Google Shape;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80" name="Google Shape;8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manually </a:t>
            </a:r>
            <a:r>
              <a:rPr lang="en-US"/>
              <a:t>labelled data from humans. In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modern coding models operate on an entirely different level, and their findings will far surpass what we have ever found.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should I say not to teach the agent using the past human findings?</a:t>
            </a:r>
            <a:endParaRPr/>
          </a:p>
        </p:txBody>
      </p:sp>
      <p:sp>
        <p:nvSpPr>
          <p:cNvPr id="86" name="Google Shape;86;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 name="Google Shape;93;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then they sometimes post stuff like this: setting exclude author from core reviewers to true allows authors to be excluded from the core reviewer group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the heck, where did it learn that? This comment alone prompted us to shut down the reviewer and rebuild it again from scratch.</a:t>
            </a:r>
            <a:endParaRPr/>
          </a:p>
        </p:txBody>
      </p:sp>
      <p:sp>
        <p:nvSpPr>
          <p:cNvPr id="94" name="Google Shape;94;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What we learned a bit later than some was how important setting a very high bar for precision is, instead of focusing on recall. Because in reality, my coworkers that were running scripts last year to delete all the noisy bot comments were right - if you can’t trust their findings to be legitimate, it may as well not be running at all. </a:t>
            </a:r>
            <a:endParaRPr/>
          </a:p>
        </p:txBody>
      </p:sp>
      <p:sp>
        <p:nvSpPr>
          <p:cNvPr id="101" name="Google Shape;101;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Let’s quickly define some terms.. If you want to evaluate the performance of an agentic system, you </a:t>
            </a:r>
            <a:r>
              <a:rPr lang="en-US"/>
              <a:t>should aim to build offline evaluations alongside online evaluations. the difference between these is that offline evals rely on that human-labeled data that we talked about before, while online evals are running against real live production data.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offline evals, you can measure the precision and recall of your reviewer agent. Precision measures the percent of a reviewers findings that are legitimate, and Recall measures the percent of defects found out of a total set. </a:t>
            </a:r>
            <a:br>
              <a:rPr lang="en-US"/>
            </a:br>
            <a:br>
              <a:rPr lang="en-US"/>
            </a:br>
            <a:r>
              <a:rPr lang="en-US"/>
              <a:t>With production data, online evals allow you to measure how often findings are accepted or rejected, and how often they fail.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09" name="Google Shape;109;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We've swung back and forth on this pendulum: do we try to catch every issue, or do we try to make sure the issues we report are legitimate?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After spending a year thinking about this, my answer is to prioritize precision for the comments we put in front of people.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the reviewer reports a bunch of illegitimate issues, it creates noise. People stop paying attention, and then even the valid findings get lost.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Recall still matters. We'll improve coverage with different reviewers and deeper review where the risk justifies it. But first, when our reviewer raises its hand, we want people to believe there's something worth looking at.</a:t>
            </a:r>
            <a:endParaRPr/>
          </a:p>
          <a:p>
            <a:pPr indent="0" lvl="0" marL="0" rtl="0" algn="l">
              <a:spcBef>
                <a:spcPts val="0"/>
              </a:spcBef>
              <a:spcAft>
                <a:spcPts val="0"/>
              </a:spcAft>
              <a:buNone/>
            </a:pPr>
            <a:r>
              <a:t/>
            </a:r>
            <a:endParaRPr/>
          </a:p>
        </p:txBody>
      </p:sp>
      <p:sp>
        <p:nvSpPr>
          <p:cNvPr id="124" name="Google Shape;124;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 name="Google Shape;13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ReviewBench gives us a third-party way to measure this against a standardized set of code reviews.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Our latest grounded results are 88.0 percent precision, 37.8 percent recall, and 52.9 percent F1. So about 88 percent of the findings we report are valid under that benchmark, and we find about 38 percent of its known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F1 combines precision and recall using their harmonic mean. It rewards doing reasonably well on both; it isn't their ordinary average.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might look at that recall and say: how can I trust a reviewer that misses so much? This isn't unique to our reviewer. The comparisons here also leave substantial room to improve coverage. And different reviewers don't necessarily miss the same things.</a:t>
            </a:r>
            <a:endParaRPr/>
          </a:p>
          <a:p>
            <a:pPr indent="0" lvl="0" marL="0" rtl="0" algn="l">
              <a:spcBef>
                <a:spcPts val="0"/>
              </a:spcBef>
              <a:spcAft>
                <a:spcPts val="0"/>
              </a:spcAft>
              <a:buNone/>
            </a:pPr>
            <a:r>
              <a:t/>
            </a:r>
            <a:endParaRPr/>
          </a:p>
        </p:txBody>
      </p:sp>
      <p:sp>
        <p:nvSpPr>
          <p:cNvPr id="131" name="Google Shape;131;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Offline scores aren't the whole story. We also want to know whether the findings get used.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address rate: the share of our findings that led to a code change. We've worked over time to move it higher, so the comments we send to human and agent authors are worth acting 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It doesn't prove every addressed finding was a real bug, and it doesn't tell us about the issues we missed. But it tells us something important about whether the review is useful in the workflow.</a:t>
            </a:r>
            <a:endParaRPr/>
          </a:p>
          <a:p>
            <a:pPr indent="0" lvl="0" marL="0" rtl="0" algn="l">
              <a:spcBef>
                <a:spcPts val="0"/>
              </a:spcBef>
              <a:spcAft>
                <a:spcPts val="0"/>
              </a:spcAft>
              <a:buNone/>
            </a:pPr>
            <a:r>
              <a:t/>
            </a:r>
            <a:endParaRPr/>
          </a:p>
        </p:txBody>
      </p:sp>
      <p:sp>
        <p:nvSpPr>
          <p:cNvPr id="141" name="Google Shape;14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 compared our reviewer with another reviewer, and the overlap was only 22 percent using the larger finding count as the denominator.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doesn't mean either reviewer found every issue. It means they found substantially different sets of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 when you look at recall, don't assume every reviewer leaves the same gaps. Different models, prompts, and specialties can give us different perspectives on the same change.</a:t>
            </a:r>
            <a:endParaRPr/>
          </a:p>
          <a:p>
            <a:pPr indent="0" lvl="0" marL="0" rtl="0" algn="l">
              <a:spcBef>
                <a:spcPts val="0"/>
              </a:spcBef>
              <a:spcAft>
                <a:spcPts val="0"/>
              </a:spcAft>
              <a:buNone/>
            </a:pPr>
            <a:r>
              <a:t/>
            </a:r>
            <a:endParaRPr/>
          </a:p>
        </p:txBody>
      </p:sp>
      <p:sp>
        <p:nvSpPr>
          <p:cNvPr id="149" name="Google Shape;149;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That's why we use specialists.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this evaluation, going from one reviewer to three specialists took recall from 41 percent to 52 percent: an increase of 11 percentage points.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specialists here focus on money movement, security, and correctness. They look at the same change through different lenses.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More reviewers don't guarantee that we'll catch every issue. But they can broaden coverage. Then we need a way to control the cost and make sure their combined output doesn't become more noise.</a:t>
            </a:r>
            <a:endParaRPr/>
          </a:p>
          <a:p>
            <a:pPr indent="0" lvl="0" marL="0" rtl="0" algn="l">
              <a:spcBef>
                <a:spcPts val="0"/>
              </a:spcBef>
              <a:spcAft>
                <a:spcPts val="0"/>
              </a:spcAft>
              <a:buNone/>
            </a:pPr>
            <a:r>
              <a:t/>
            </a:r>
            <a:endParaRPr/>
          </a:p>
        </p:txBody>
      </p:sp>
      <p:sp>
        <p:nvSpPr>
          <p:cNvPr id="156" name="Google Shape;15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might say: that sounds expensive. Are you running three reviewers on every pull request?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trick is to match review depth to risk. Assess the change up front, then route it to a cheaper review or a deeper panel based on what could go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Meta describes this approach in RADAR—Risk Aware Diff Auto Review. Low-risk changes can qualify for automated review and landing after eligibility checks, AI review, and validation. That isn't the same as skipping review altogether.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principle is useful here too. Spend more review effort where the consequences justify it, and let well-validated, low-risk changes move quickly.</a:t>
            </a:r>
            <a:endParaRPr/>
          </a:p>
          <a:p>
            <a:pPr indent="0" lvl="0" marL="0" rtl="0" algn="l">
              <a:spcBef>
                <a:spcPts val="0"/>
              </a:spcBef>
              <a:spcAft>
                <a:spcPts val="0"/>
              </a:spcAft>
              <a:buNone/>
            </a:pPr>
            <a:r>
              <a:t/>
            </a:r>
            <a:endParaRPr/>
          </a:p>
        </p:txBody>
      </p:sp>
      <p:sp>
        <p:nvSpPr>
          <p:cNvPr id="164" name="Google Shape;164;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Now we have another problem. Three reviewers can report duplicate issues, and some of their findings will still be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specialist reports to a coordinator. The coordinator looks across the findings, deduplicates them, and filters weak ones. Then a judge challenges the evidence: can we disprove a reported finding? Did we dismiss something that actually matters?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Only findings that survive that process should reach the author. Sensitive changes or unresolved questions can be handed to a human, according to the risk policy.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the distinction I want to emphasize. More reviewer perspectives can increase recall. More validation can improve precision. Neither is automatic—we have to measure both as we change the system.</a:t>
            </a:r>
            <a:endParaRPr/>
          </a:p>
          <a:p>
            <a:pPr indent="0" lvl="0" marL="0" rtl="0" algn="l">
              <a:spcBef>
                <a:spcPts val="0"/>
              </a:spcBef>
              <a:spcAft>
                <a:spcPts val="0"/>
              </a:spcAft>
              <a:buNone/>
            </a:pPr>
            <a:r>
              <a:t/>
            </a:r>
            <a:endParaRPr/>
          </a:p>
        </p:txBody>
      </p:sp>
      <p:sp>
        <p:nvSpPr>
          <p:cNvPr id="171" name="Google Shape;171;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Where does the human come in?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reserve human judgment for the most sensitive changes and the questions our automation can't confidently resolve. What counts as sensitive depends on your system: money movement, infrastructure, personal information, or a decision that requires context and judgment.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human shouldn't have to redo every step of the automated review. We want to bring them the evidence and the unresolved question, so their attention goes where it matters.</a:t>
            </a:r>
            <a:endParaRPr/>
          </a:p>
          <a:p>
            <a:pPr indent="0" lvl="0" marL="0" rtl="0" algn="l">
              <a:spcBef>
                <a:spcPts val="0"/>
              </a:spcBef>
              <a:spcAft>
                <a:spcPts val="0"/>
              </a:spcAft>
              <a:buNone/>
            </a:pPr>
            <a:r>
              <a:t/>
            </a:r>
            <a:endParaRPr/>
          </a:p>
        </p:txBody>
      </p:sp>
      <p:sp>
        <p:nvSpPr>
          <p:cNvPr id="179" name="Google Shape;17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If our job is no longer reading every line of code, what is our job?</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We're still responsible for the system. We have to decide what it is allowed to do, what it needs to understand, and how we'll know when it is getting something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addition to evals, I think that comes down to containing and aligning our agents.</a:t>
            </a:r>
            <a:endParaRPr/>
          </a:p>
          <a:p>
            <a:pPr indent="0" lvl="0" marL="0" rtl="0" algn="l">
              <a:spcBef>
                <a:spcPts val="0"/>
              </a:spcBef>
              <a:spcAft>
                <a:spcPts val="0"/>
              </a:spcAft>
              <a:buNone/>
            </a:pPr>
            <a:r>
              <a:t/>
            </a:r>
            <a:endParaRPr/>
          </a:p>
        </p:txBody>
      </p:sp>
      <p:sp>
        <p:nvSpPr>
          <p:cNvPr id="187" name="Google Shape;18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Containment means deciding how much autonomy is appropriate. Here are the changes we consider low risk. Here are the ones that need more review. Here are the ones that require a human decision.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Alignment means giving the agents the understanding they need to build the experience we intend.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our coffee shop, that includes a simple rule: a customer buying one coffee should be charged once. We have to encode that intent in the context the authors and reviewers receive.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Those are ongoing responsibilities. We maintain the boundaries, maintain the context, and keep measuring how the system behaves.</a:t>
            </a:r>
            <a:endParaRPr/>
          </a:p>
          <a:p>
            <a:pPr indent="0" lvl="0" marL="0" rtl="0" algn="l">
              <a:spcBef>
                <a:spcPts val="0"/>
              </a:spcBef>
              <a:spcAft>
                <a:spcPts val="0"/>
              </a:spcAft>
              <a:buNone/>
            </a:pPr>
            <a:r>
              <a:t/>
            </a:r>
            <a:endParaRPr/>
          </a:p>
        </p:txBody>
      </p:sp>
      <p:sp>
        <p:nvSpPr>
          <p:cNvPr id="193" name="Google Shape;19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don't need to train your own model to start doing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have AGENTS.md, skills, tools, and the context you give both the authors and the reviewers. Use them to explain why the system exists and what successful behavior looks like.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more than coding conventions. Tell the agent about the customer experience, the important constraints, and the things that must remain true.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we know the customer should be charged once, but we never give the reviewer that context, we shouldn't be surprised when it checks the implementation and misses the actual problem.</a:t>
            </a:r>
            <a:endParaRPr/>
          </a:p>
          <a:p>
            <a:pPr indent="0" lvl="0" marL="0" rtl="0" algn="l">
              <a:spcBef>
                <a:spcPts val="0"/>
              </a:spcBef>
              <a:spcAft>
                <a:spcPts val="0"/>
              </a:spcAft>
              <a:buNone/>
            </a:pPr>
            <a:r>
              <a:t/>
            </a:r>
            <a:endParaRPr/>
          </a:p>
        </p:txBody>
      </p:sp>
      <p:sp>
        <p:nvSpPr>
          <p:cNvPr id="200" name="Google Shape;20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There's also work to do with our fellow humans. We need to get our collective understanding into the plan the agents will use.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reviewing the approach before the code is written. Agree on the experience, the constraints, and what would count as a successful result while it is still easy to change direction.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Plans and spec-driven development can help with that. Tools such as Buzz are one way to bring humans and agents into the same conversation. The particular tool isn't the point; the shared understanding 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Then, when the agent writes, verifies, and reviews the code, it is working toward an outcome we've already agreed on.</a:t>
            </a:r>
            <a:endParaRPr/>
          </a:p>
          <a:p>
            <a:pPr indent="0" lvl="0" marL="0" rtl="0" algn="l">
              <a:spcBef>
                <a:spcPts val="0"/>
              </a:spcBef>
              <a:spcAft>
                <a:spcPts val="0"/>
              </a:spcAft>
              <a:buNone/>
            </a:pPr>
            <a:r>
              <a:t/>
            </a:r>
            <a:endParaRPr/>
          </a:p>
        </p:txBody>
      </p:sp>
      <p:sp>
        <p:nvSpPr>
          <p:cNvPr id="207" name="Google Shape;207;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 name="Google Shape;21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how do you cut the noise and build a reviewer you can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prioritize precision. Calibrate against past human judgments, measure what the reviewer reports, and protect people's attention. No reviewer catches everything, so use different perspectives and match review depth to risk where you need more coverage.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Second, give your agents the big picture. They need the context to recognize the bugs that matter to your users.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Third, get review before the code is written. Align the humans and agents on what you're trying to build, then let the review system help verify that the implementation follows that plan.</a:t>
            </a:r>
            <a:endParaRPr/>
          </a:p>
          <a:p>
            <a:pPr indent="0" lvl="0" marL="0" rtl="0" algn="l">
              <a:spcBef>
                <a:spcPts val="0"/>
              </a:spcBef>
              <a:spcAft>
                <a:spcPts val="0"/>
              </a:spcAft>
              <a:buNone/>
            </a:pPr>
            <a:r>
              <a:t/>
            </a:r>
            <a:endParaRPr/>
          </a:p>
        </p:txBody>
      </p:sp>
      <p:sp>
        <p:nvSpPr>
          <p:cNvPr id="215" name="Google Shape;215;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is the workflow I want us to get 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agents keep the factory moving, and the review system checks their work. The humans stay involved in the customer experience, the important decisions, and the context that makes the whole thing work.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aren't giving up responsibility. We're building a system that lets us take responsibility without manually reading every 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Thank you for your time. The slides and sources are at joahg.dev/cut-the-noise. I'll be around if you have questions.</a:t>
            </a:r>
            <a:endParaRPr/>
          </a:p>
          <a:p>
            <a:pPr indent="0" lvl="0" marL="0" rtl="0" algn="l">
              <a:spcBef>
                <a:spcPts val="0"/>
              </a:spcBef>
              <a:spcAft>
                <a:spcPts val="0"/>
              </a:spcAft>
              <a:buNone/>
            </a:pPr>
            <a:r>
              <a:t/>
            </a:r>
            <a:endParaRPr/>
          </a:p>
        </p:txBody>
      </p:sp>
      <p:sp>
        <p:nvSpPr>
          <p:cNvPr id="222" name="Google Shape;222;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hyperlink" Target="https://careersatdoordash.com/blog/doordash-built-an-ai-code-reviewer-engineers-actually-listen-to/"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hyperlink" Target="https://buzz.xy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png"/><Relationship Id="rId4" Type="http://schemas.openxmlformats.org/officeDocument/2006/relationships/hyperlink" Target="https://joahg.dev/cut-the-nois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p:cNvPicPr preferRelativeResize="0"/>
          <p:nvPr/>
        </p:nvPicPr>
        <p:blipFill rotWithShape="1">
          <a:blip r:embed="rId3">
            <a:alphaModFix/>
          </a:blip>
          <a:srcRect b="0" l="0" r="0" t="0"/>
          <a:stretch/>
        </p:blipFill>
        <p:spPr>
          <a:xfrm>
            <a:off x="95250" y="214313"/>
            <a:ext cx="12001500" cy="6000750"/>
          </a:xfrm>
          <a:prstGeom prst="rect">
            <a:avLst/>
          </a:prstGeom>
          <a:noFill/>
          <a:ln>
            <a:noFill/>
          </a:ln>
        </p:spPr>
      </p:pic>
      <p:sp>
        <p:nvSpPr>
          <p:cNvPr id="63" name="Google Shape;63;p1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 name="Shape 68"/>
        <p:cNvGrpSpPr/>
        <p:nvPr/>
      </p:nvGrpSpPr>
      <p:grpSpPr>
        <a:xfrm>
          <a:off x="0" y="0"/>
          <a:ext cx="0" cy="0"/>
          <a:chOff x="0" y="0"/>
          <a:chExt cx="0" cy="0"/>
        </a:xfrm>
      </p:grpSpPr>
      <p:pic>
        <p:nvPicPr>
          <p:cNvPr id="69" name="Google Shape;69;p14"/>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70" name="Google Shape;70;p1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LGTM.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pic>
        <p:nvPicPr>
          <p:cNvPr id="76" name="Google Shape;76;p15"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pic>
        <p:nvPicPr>
          <p:cNvPr id="82" name="Google Shape;82;p16"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pic>
        <p:nvPicPr>
          <p:cNvPr id="88" name="Google Shape;88;p17"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9" name="Google Shape;89;p17"/>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90" name="Google Shape;90;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 name="Shape 95"/>
        <p:cNvGrpSpPr/>
        <p:nvPr/>
      </p:nvGrpSpPr>
      <p:grpSpPr>
        <a:xfrm>
          <a:off x="0" y="0"/>
          <a:ext cx="0" cy="0"/>
          <a:chOff x="0" y="0"/>
          <a:chExt cx="0" cy="0"/>
        </a:xfrm>
      </p:grpSpPr>
      <p:pic>
        <p:nvPicPr>
          <p:cNvPr id="96" name="Google Shape;96;p18"/>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7" name="Google Shape;97;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pic>
        <p:nvPicPr>
          <p:cNvPr id="103" name="Google Shape;103;p19"/>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4" name="Google Shape;104;p19"/>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5" name="Google Shape;105;p1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20"/>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12" name="Google Shape;112;p20"/>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13" name="Google Shape;113;p20"/>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14" name="Google Shape;114;p20"/>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15" name="Google Shape;115;p20"/>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16" name="Google Shape;116;p20"/>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17" name="Google Shape;117;p20"/>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Acceptance</a:t>
            </a:r>
            <a:r>
              <a:rPr b="0" i="0" lang="en-US" sz="2550">
                <a:solidFill>
                  <a:srgbClr val="182C36"/>
                </a:solidFill>
                <a:latin typeface="Avenir"/>
                <a:ea typeface="Avenir"/>
                <a:cs typeface="Avenir"/>
                <a:sym typeface="Avenir"/>
              </a:rPr>
              <a:t> rate</a:t>
            </a:r>
            <a:endParaRPr/>
          </a:p>
        </p:txBody>
      </p:sp>
      <p:sp>
        <p:nvSpPr>
          <p:cNvPr id="118" name="Google Shape;118;p20"/>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9" name="Google Shape;119;p20"/>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20" name="Google Shape;120;p20"/>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pic>
        <p:nvPicPr>
          <p:cNvPr id="126" name="Google Shape;126;p21"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27" name="Google Shape;127;p21"/>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pic>
        <p:nvPicPr>
          <p:cNvPr id="133" name="Google Shape;133;p22"/>
          <p:cNvPicPr preferRelativeResize="0"/>
          <p:nvPr/>
        </p:nvPicPr>
        <p:blipFill rotWithShape="1">
          <a:blip r:embed="rId3">
            <a:alphaModFix/>
          </a:blip>
          <a:srcRect b="7400" l="0" r="0" t="0"/>
          <a:stretch/>
        </p:blipFill>
        <p:spPr>
          <a:xfrm>
            <a:off x="523875" y="1657350"/>
            <a:ext cx="5705475" cy="2971800"/>
          </a:xfrm>
          <a:prstGeom prst="rect">
            <a:avLst/>
          </a:prstGeom>
          <a:noFill/>
          <a:ln>
            <a:noFill/>
          </a:ln>
        </p:spPr>
      </p:pic>
      <p:pic>
        <p:nvPicPr>
          <p:cNvPr id="134" name="Google Shape;134;p22"/>
          <p:cNvPicPr preferRelativeResize="0"/>
          <p:nvPr/>
        </p:nvPicPr>
        <p:blipFill rotWithShape="1">
          <a:blip r:embed="rId4">
            <a:alphaModFix/>
          </a:blip>
          <a:srcRect b="0" l="0" r="0" t="0"/>
          <a:stretch/>
        </p:blipFill>
        <p:spPr>
          <a:xfrm>
            <a:off x="291943" y="1047750"/>
            <a:ext cx="6178864" cy="3867150"/>
          </a:xfrm>
          <a:prstGeom prst="rect">
            <a:avLst/>
          </a:prstGeom>
          <a:noFill/>
          <a:ln>
            <a:noFill/>
          </a:ln>
        </p:spPr>
      </p:pic>
      <p:graphicFrame>
        <p:nvGraphicFramePr>
          <p:cNvPr id="135" name="Google Shape;135;p22"/>
          <p:cNvGraphicFramePr/>
          <p:nvPr/>
        </p:nvGraphicFramePr>
        <p:xfrm>
          <a:off x="6762750" y="2047875"/>
          <a:ext cx="3000000" cy="3000000"/>
        </p:xfrm>
        <a:graphic>
          <a:graphicData uri="http://schemas.openxmlformats.org/drawingml/2006/table">
            <a:tbl>
              <a:tblPr>
                <a:noFill/>
                <a:tableStyleId>{F3466A94-7B71-4218-8355-6090729BF4FA}</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36" name="Google Shape;136;p22"/>
          <p:cNvSpPr/>
          <p:nvPr/>
        </p:nvSpPr>
        <p:spPr>
          <a:xfrm>
            <a:off x="6810375" y="1428750"/>
            <a:ext cx="485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37" name="Google Shape;137;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pic>
        <p:nvPicPr>
          <p:cNvPr id="143" name="Google Shape;143;p23"/>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44" name="Google Shape;144;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45" name="Google Shape;145;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pic>
        <p:nvPicPr>
          <p:cNvPr id="151" name="Google Shape;151;p24"/>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2" name="Google Shape;152;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id="158" name="Google Shape;158;p25"/>
          <p:cNvPicPr preferRelativeResize="0"/>
          <p:nvPr/>
        </p:nvPicPr>
        <p:blipFill rotWithShape="1">
          <a:blip r:embed="rId3">
            <a:alphaModFix/>
          </a:blip>
          <a:srcRect b="11796" l="6998" r="1555" t="15409"/>
          <a:stretch/>
        </p:blipFill>
        <p:spPr>
          <a:xfrm>
            <a:off x="1762479" y="1154185"/>
            <a:ext cx="8667041" cy="3882880"/>
          </a:xfrm>
          <a:prstGeom prst="rect">
            <a:avLst/>
          </a:prstGeom>
          <a:noFill/>
          <a:ln>
            <a:noFill/>
          </a:ln>
        </p:spPr>
      </p:pic>
      <p:sp>
        <p:nvSpPr>
          <p:cNvPr id="159" name="Google Shape;159;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 percentage points over one reviewer</a:t>
            </a:r>
            <a:endParaRPr/>
          </a:p>
        </p:txBody>
      </p:sp>
      <p:sp>
        <p:nvSpPr>
          <p:cNvPr id="160" name="Google Shape;160;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id="166" name="Google Shape;166;p26"/>
          <p:cNvPicPr preferRelativeResize="0"/>
          <p:nvPr/>
        </p:nvPicPr>
        <p:blipFill rotWithShape="1">
          <a:blip r:embed="rId3">
            <a:alphaModFix/>
          </a:blip>
          <a:srcRect b="8395" l="0" r="0" t="15728"/>
          <a:stretch/>
        </p:blipFill>
        <p:spPr>
          <a:xfrm>
            <a:off x="807145" y="837107"/>
            <a:ext cx="10577710" cy="4517036"/>
          </a:xfrm>
          <a:prstGeom prst="rect">
            <a:avLst/>
          </a:prstGeom>
          <a:noFill/>
          <a:ln>
            <a:noFill/>
          </a:ln>
        </p:spPr>
      </p:pic>
      <p:sp>
        <p:nvSpPr>
          <p:cNvPr id="167" name="Google Shape;167;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pic>
        <p:nvPicPr>
          <p:cNvPr id="173" name="Google Shape;173;p27"/>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74" name="Google Shape;174;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Multiple layers increase precision; more reviewers increase recall</a:t>
            </a:r>
            <a:endParaRPr/>
          </a:p>
        </p:txBody>
      </p:sp>
      <p:sp>
        <p:nvSpPr>
          <p:cNvPr id="175" name="Google Shape;175;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119063" lvl="0" marL="228600" marR="0" rtl="0" algn="l">
              <a:spcBef>
                <a:spcPts val="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Infrastructure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Judgment-sensitive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Money movement</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Personally identifying information</a:t>
            </a:r>
            <a:endParaRPr/>
          </a:p>
        </p:txBody>
      </p:sp>
      <p:pic>
        <p:nvPicPr>
          <p:cNvPr id="182" name="Google Shape;182;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3" name="Google Shape;183;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pic>
        <p:nvPicPr>
          <p:cNvPr id="189" name="Google Shape;189;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pic>
        <p:nvPicPr>
          <p:cNvPr id="195" name="Google Shape;195;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6" name="Google Shape;196;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Contain and Align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pic>
        <p:nvPicPr>
          <p:cNvPr id="202" name="Google Shape;202;p31" title="slide-24-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3" name="Google Shape;203;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Give your agents the big picture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id="209" name="Google Shape;209;p32" title="slide-25-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10" name="Google Shape;210;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1" name="Google Shape;211;p3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Buzz, buzz.xyz</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33"/>
          <p:cNvSpPr/>
          <p:nvPr/>
        </p:nvSpPr>
        <p:spPr>
          <a:xfrm>
            <a:off x="809625" y="762000"/>
            <a:ext cx="10572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450">
                <a:solidFill>
                  <a:srgbClr val="111111"/>
                </a:solidFill>
                <a:latin typeface="Short Stack"/>
                <a:ea typeface="Short Stack"/>
                <a:cs typeface="Short Stack"/>
                <a:sym typeface="Short Stack"/>
              </a:rPr>
              <a:t>Cut the noise</a:t>
            </a:r>
            <a:endParaRPr/>
          </a:p>
        </p:txBody>
      </p:sp>
      <p:sp>
        <p:nvSpPr>
          <p:cNvPr id="218" name="Google Shape;218;p33"/>
          <p:cNvSpPr/>
          <p:nvPr/>
        </p:nvSpPr>
        <p:spPr>
          <a:xfrm>
            <a:off x="1000125" y="2095500"/>
            <a:ext cx="10287000" cy="3810000"/>
          </a:xfrm>
          <a:prstGeom prst="rect">
            <a:avLst/>
          </a:prstGeom>
          <a:noFill/>
          <a:ln>
            <a:noFill/>
          </a:ln>
        </p:spPr>
        <p:txBody>
          <a:bodyPr anchorCtr="0" anchor="t" bIns="0" lIns="0" spcFirstLastPara="1" rIns="0" wrap="square" tIns="0">
            <a:noAutofit/>
          </a:bodyPr>
          <a:lstStyle/>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Prioritize precision over recall</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Give agents the big picture</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Get review before the code is written</a:t>
            </a:r>
            <a:endParaRPr sz="2400">
              <a:solidFill>
                <a:srgbClr val="182C36"/>
              </a:solidFill>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 name="Shape 223"/>
        <p:cNvGrpSpPr/>
        <p:nvPr/>
      </p:nvGrpSpPr>
      <p:grpSpPr>
        <a:xfrm>
          <a:off x="0" y="0"/>
          <a:ext cx="0" cy="0"/>
          <a:chOff x="0" y="0"/>
          <a:chExt cx="0" cy="0"/>
        </a:xfrm>
      </p:grpSpPr>
      <p:pic>
        <p:nvPicPr>
          <p:cNvPr id="224" name="Google Shape;224;p34"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5" name="Google Shape;225;p3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