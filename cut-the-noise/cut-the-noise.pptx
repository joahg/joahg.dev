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6A2005D-31DB-4B18-9C09-3F02C8CEB87B}">
  <a:tblStyle styleId="{16A2005D-31DB-4B18-9C09-3F02C8CEB87B}"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1:25:28.512">
    <p:pos x="347" y="304"/>
    <p:text>need to put the "account disabled" on angie's handle &gt;:)</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2:24.133">
    <p:pos x="0" y="0"/>
    <p:text>related to the note on the previous slide, this image made me think that recall isn't important? then why do it?  
I think the words themselves are tricky to me, a new learner of these things</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13:34.733">
    <p:pos x="6000" y="0"/>
    <p:text>be nice to add some milestones about changes made along the way (eg, new model, prompt change, here's when we added the specialists, etc)</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01.678">
    <p:pos x="6000" y="0"/>
    <p:text>give me a chart or something more compelling here! You won the whole thing! that's cool!</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5T03:19:07.877">
    <p:pos x="6000" y="0"/>
    <p:text>I like this slide a lot as an ending
1 total reaction
Joah Gerstenberg reacted with ♥️ at 10/15/2026, 3:19 AM UTC</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 name="Shape 37"/>
        <p:cNvGrpSpPr/>
        <p:nvPr/>
      </p:nvGrpSpPr>
      <p:grpSpPr>
        <a:xfrm>
          <a:off x="0" y="0"/>
          <a:ext cx="0" cy="0"/>
          <a:chOff x="0" y="0"/>
          <a:chExt cx="0" cy="0"/>
        </a:xfrm>
      </p:grpSpPr>
      <p:sp>
        <p:nvSpPr>
          <p:cNvPr id="38" name="Google Shape;38;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 name="Google Shape;39;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we’ve learned this year while building a reviewer that we actually trust. Hopefully that’s the talk you’re here to see :) </a:t>
            </a:r>
            <a:endParaRPr/>
          </a:p>
        </p:txBody>
      </p:sp>
      <p:sp>
        <p:nvSpPr>
          <p:cNvPr id="40" name="Google Shape;40;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 name="Shape 49"/>
        <p:cNvGrpSpPr/>
        <p:nvPr/>
      </p:nvGrpSpPr>
      <p:grpSpPr>
        <a:xfrm>
          <a:off x="0" y="0"/>
          <a:ext cx="0" cy="0"/>
          <a:chOff x="0" y="0"/>
          <a:chExt cx="0" cy="0"/>
        </a:xfrm>
      </p:grpSpPr>
      <p:sp>
        <p:nvSpPr>
          <p:cNvPr id="50" name="Google Shape;50;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 name="Google Shape;51;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2" name="Google Shape;52;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 name="Google Shape;57;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58" name="Google Shape;58;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 name="Shape 61"/>
        <p:cNvGrpSpPr/>
        <p:nvPr/>
      </p:nvGrpSpPr>
      <p:grpSpPr>
        <a:xfrm>
          <a:off x="0" y="0"/>
          <a:ext cx="0" cy="0"/>
          <a:chOff x="0" y="0"/>
          <a:chExt cx="0" cy="0"/>
        </a:xfrm>
      </p:grpSpPr>
      <p:sp>
        <p:nvSpPr>
          <p:cNvPr id="62" name="Google Shape;62;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 name="Google Shape;63;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p:txBody>
      </p:sp>
      <p:sp>
        <p:nvSpPr>
          <p:cNvPr id="64" name="Google Shape;64;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 name="Shape 67"/>
        <p:cNvGrpSpPr/>
        <p:nvPr/>
      </p:nvGrpSpPr>
      <p:grpSpPr>
        <a:xfrm>
          <a:off x="0" y="0"/>
          <a:ext cx="0" cy="0"/>
          <a:chOff x="0" y="0"/>
          <a:chExt cx="0" cy="0"/>
        </a:xfrm>
      </p:grpSpPr>
      <p:sp>
        <p:nvSpPr>
          <p:cNvPr id="68" name="Google Shape;68;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9" name="Google Shape;69;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0" name="Google Shape;70;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 name="Shape 73"/>
        <p:cNvGrpSpPr/>
        <p:nvPr/>
      </p:nvGrpSpPr>
      <p:grpSpPr>
        <a:xfrm>
          <a:off x="0" y="0"/>
          <a:ext cx="0" cy="0"/>
          <a:chOff x="0" y="0"/>
          <a:chExt cx="0" cy="0"/>
        </a:xfrm>
      </p:grpSpPr>
      <p:sp>
        <p:nvSpPr>
          <p:cNvPr id="74" name="Google Shape;74;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5" name="Google Shape;75;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76" name="Google Shape;76;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 name="Shape 79"/>
        <p:cNvGrpSpPr/>
        <p:nvPr/>
      </p:nvGrpSpPr>
      <p:grpSpPr>
        <a:xfrm>
          <a:off x="0" y="0"/>
          <a:ext cx="0" cy="0"/>
          <a:chOff x="0" y="0"/>
          <a:chExt cx="0" cy="0"/>
        </a:xfrm>
      </p:grpSpPr>
      <p:sp>
        <p:nvSpPr>
          <p:cNvPr id="80" name="Google Shape;80;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 name="Google Shape;81;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golden review set, we’ve </a:t>
            </a:r>
            <a:r>
              <a:rPr lang="en-US"/>
              <a:t>collected</a:t>
            </a:r>
            <a:r>
              <a:rPr lang="en-US"/>
              <a:t> hundreds </a:t>
            </a:r>
            <a:r>
              <a:rPr lang="en-US"/>
              <a:t>of high-quality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we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2" name="Google Shape;82;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9" name="Google Shape;89;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0" name="Google Shape;90;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6" name="Google Shape;96;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also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97" name="Google Shape;97;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4" name="Google Shape;104;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p:txBody>
      </p:sp>
      <p:sp>
        <p:nvSpPr>
          <p:cNvPr id="105" name="Google Shape;105;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h4d9457396a94bf3e_7_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1" name="Google Shape;111;h4d9457396a94bf3e_7_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A system’s precision allows you to measure true positives - what percentage of its findings are legitimate, and how many are just noise?</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10 findings, but 3 was wrong, it would have 70% precision</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Likewise, recall allows you to measure how many of the total findings we caught - how many of the real vulnerabilities did we catch?</a:t>
            </a:r>
            <a:endParaRPr>
              <a:solidFill>
                <a:schemeClr val="dk1"/>
              </a:solidFill>
            </a:endParaRPr>
          </a:p>
          <a:p>
            <a:pPr indent="-317500" lvl="0" marL="457200" rtl="0" algn="l">
              <a:spcBef>
                <a:spcPts val="0"/>
              </a:spcBef>
              <a:spcAft>
                <a:spcPts val="0"/>
              </a:spcAft>
              <a:buClr>
                <a:schemeClr val="dk1"/>
              </a:buClr>
              <a:buSzPts val="1400"/>
              <a:buChar char="-"/>
            </a:pPr>
            <a:r>
              <a:rPr lang="en-US">
                <a:solidFill>
                  <a:schemeClr val="dk1"/>
                </a:solidFill>
              </a:rPr>
              <a:t>for example, if a reviewer posted 5 findings, out of 10 possible findings, it would have 50% recall</a:t>
            </a:r>
            <a:endParaRPr/>
          </a:p>
        </p:txBody>
      </p:sp>
      <p:sp>
        <p:nvSpPr>
          <p:cNvPr id="112" name="Google Shape;112;h4d9457396a94bf3e_7_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h4d9457396a94bf3e_7_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18" name="Google Shape;118;h4d9457396a94bf3e_7_19: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Once a reviewer is running in production, you can begin measuring how many of its findings are actually accepted by humans, and monitoring how often a recommended change needs to be reverted.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Font typeface="Arial"/>
              <a:buNone/>
            </a:pPr>
            <a:r>
              <a:rPr lang="en-US">
                <a:solidFill>
                  <a:schemeClr val="dk1"/>
                </a:solidFill>
              </a:rPr>
              <a:t>Evals like these need to lead the conversation when building agentic systems. If you aren’t able to prove that your agents are doing what you expect them to be doing, you have missed a step in your design. </a:t>
            </a:r>
            <a:endParaRPr>
              <a:solidFill>
                <a:schemeClr val="dk1"/>
              </a:solidFill>
            </a:endParaRPr>
          </a:p>
          <a:p>
            <a:pPr indent="0" lvl="0" marL="0" rtl="0" algn="l">
              <a:spcBef>
                <a:spcPts val="0"/>
              </a:spcBef>
              <a:spcAft>
                <a:spcPts val="0"/>
              </a:spcAft>
              <a:buNone/>
            </a:pPr>
            <a:r>
              <a:t/>
            </a:r>
            <a:endParaRPr/>
          </a:p>
        </p:txBody>
      </p:sp>
      <p:sp>
        <p:nvSpPr>
          <p:cNvPr id="119" name="Google Shape;119;h4d9457396a94bf3e_7_19: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5" name="Google Shape;125;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they shared that if you want to build a code reviewer that is usable, optimizing for precision is far more important than optimizing for recall.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While we need to know that our reviewer is catching the highest severity issues, We have to refuse the urge to try and catch everything, and instead accept that some low severity issues will make it to production.</a:t>
            </a:r>
            <a:endParaRPr/>
          </a:p>
        </p:txBody>
      </p:sp>
      <p:sp>
        <p:nvSpPr>
          <p:cNvPr id="126" name="Google Shape;126;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 name="Shape 131"/>
        <p:cNvGrpSpPr/>
        <p:nvPr/>
      </p:nvGrpSpPr>
      <p:grpSpPr>
        <a:xfrm>
          <a:off x="0" y="0"/>
          <a:ext cx="0" cy="0"/>
          <a:chOff x="0" y="0"/>
          <a:chExt cx="0" cy="0"/>
        </a:xfrm>
      </p:grpSpPr>
      <p:sp>
        <p:nvSpPr>
          <p:cNvPr id="132" name="Google Shape;132;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3" name="Google Shape;133;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34" name="Google Shape;134;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1" name="Google Shape;141;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42" name="Google Shape;142;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9" name="Google Shape;149;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50" name="Google Shape;150;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6" name="Google Shape;156;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Essentially, yes - that’s the strategy.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57" name="Google Shape;157;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4" name="Google Shape;164;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65" name="Google Shape;165;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2" name="Google Shape;172;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73" name="Google Shape;173;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0" name="Google Shape;180;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our own version of this risk router inside our own agentic review system that identifies common risk patterns unique to our work. We flag changes that are privacy or security sensitive, touch money movement, or modify schemas to route them for a more thorough review. We have found that a risk</a:t>
            </a:r>
            <a:r>
              <a:rPr lang="en-US"/>
              <a:t>-based review system like this makes it possible for autonomous agents to rapidly merge low-risk changes to improve our code, and this has become a critical piece of our development platform. </a:t>
            </a:r>
            <a:endParaRPr/>
          </a:p>
        </p:txBody>
      </p:sp>
      <p:sp>
        <p:nvSpPr>
          <p:cNvPr id="181" name="Google Shape;181;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8" name="Google Shape;188;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we’ve learned this year is that, no matter how much we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189" name="Google Shape;189;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6" name="Google Shape;196;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p:txBody>
      </p:sp>
      <p:sp>
        <p:nvSpPr>
          <p:cNvPr id="197" name="Google Shape;197;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2" name="Google Shape;202;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we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our agents have the context of goals, we must thoughtfully consider how we can contain their impact so we’re able to verify that they are achieving those goals in aligned ways.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a critical layer of infrastructure for containing the effect of agents on our customer experience. </a:t>
            </a:r>
            <a:endParaRPr/>
          </a:p>
        </p:txBody>
      </p:sp>
      <p:sp>
        <p:nvSpPr>
          <p:cNvPr id="203" name="Google Shape;203;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 name="Shape 207"/>
        <p:cNvGrpSpPr/>
        <p:nvPr/>
      </p:nvGrpSpPr>
      <p:grpSpPr>
        <a:xfrm>
          <a:off x="0" y="0"/>
          <a:ext cx="0" cy="0"/>
          <a:chOff x="0" y="0"/>
          <a:chExt cx="0" cy="0"/>
        </a:xfrm>
      </p:grpSpPr>
      <p:sp>
        <p:nvSpPr>
          <p:cNvPr id="208" name="Google Shape;20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9" name="Google Shape;20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10" name="Google Shape;210;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18" name="Google Shape;218;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3" name="Google Shape;223;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a:t>
            </a:r>
            <a:r>
              <a:rPr lang="en-US"/>
              <a:t>Once we’ve made our preferences and goals legible to our agents, they are able to make local decisions more mindfully.  Even as the models get better</a:t>
            </a:r>
            <a:r>
              <a:rPr lang="en-US"/>
              <a:t>, maintaining an adversarial reviewer that double checks your agents’ output </a:t>
            </a:r>
            <a:r>
              <a:rPr lang="en-US"/>
              <a:t>allows you to </a:t>
            </a:r>
            <a:r>
              <a:rPr lang="en-US"/>
              <a:t>contain new risks being introduced. </a:t>
            </a:r>
            <a:endParaRPr/>
          </a:p>
        </p:txBody>
      </p:sp>
      <p:sp>
        <p:nvSpPr>
          <p:cNvPr id="224" name="Google Shape;224;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9" name="Google Shape;229;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Using agent-native platforms to plan allows them to build </a:t>
            </a:r>
            <a:r>
              <a:rPr lang="en-US"/>
              <a:t>a more complete model of your world, and makes it easier to trust the work once it’s complete.</a:t>
            </a:r>
            <a:endParaRPr/>
          </a:p>
        </p:txBody>
      </p:sp>
      <p:sp>
        <p:nvSpPr>
          <p:cNvPr id="230" name="Google Shape;230;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3" name="Shape 233"/>
        <p:cNvGrpSpPr/>
        <p:nvPr/>
      </p:nvGrpSpPr>
      <p:grpSpPr>
        <a:xfrm>
          <a:off x="0" y="0"/>
          <a:ext cx="0" cy="0"/>
          <a:chOff x="0" y="0"/>
          <a:chExt cx="0" cy="0"/>
        </a:xfrm>
      </p:grpSpPr>
      <p:sp>
        <p:nvSpPr>
          <p:cNvPr id="234" name="Google Shape;234;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5" name="Google Shape;235;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36" name="Google Shape;236;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comments" Target="../comments/comment2.xml"/><Relationship Id="rId4"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image" Target="../media/image1.png"/><Relationship Id="rId7" Type="http://schemas.openxmlformats.org/officeDocument/2006/relationships/image" Target="../media/image4.png"/><Relationship Id="rId8"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3.xml"/><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4.xml"/><Relationship Id="rId4" Type="http://schemas.openxmlformats.org/officeDocument/2006/relationships/image" Target="../media/image9.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5.xml"/><Relationship Id="rId4"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hyperlink" Target="https://review-bench.ai/" TargetMode="External"/><Relationship Id="rId5" Type="http://schemas.openxmlformats.org/officeDocument/2006/relationships/image" Target="../media/image6.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6.xml"/><Relationship Id="rId4" Type="http://schemas.openxmlformats.org/officeDocument/2006/relationships/image" Target="../media/image22.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7.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3.png"/><Relationship Id="rId4"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2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8.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29.png"/><Relationship Id="rId5" Type="http://schemas.openxmlformats.org/officeDocument/2006/relationships/hyperlink" Target="https://joahg.dev/cut-the-noise" TargetMode="External"/><Relationship Id="rId6"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pic>
        <p:nvPicPr>
          <p:cNvPr id="36" name="Google Shape;36;p9" title="slack-v72.png"/>
          <p:cNvPicPr preferRelativeResize="0"/>
          <p:nvPr/>
        </p:nvPicPr>
        <p:blipFill rotWithShape="1">
          <a:blip r:embed="rId4">
            <a:alphaModFix/>
          </a:blip>
          <a:srcRect b="2803" l="0" r="0" t="2803"/>
          <a:stretch/>
        </p:blipFill>
        <p:spPr>
          <a:xfrm>
            <a:off x="551488" y="483475"/>
            <a:ext cx="11089026" cy="5891051"/>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blipFill>
          <a:blip r:embed="rId3">
            <a:alphaModFix/>
          </a:blip>
          <a:stretch>
            <a:fillRect/>
          </a:stretch>
        </a:blipFill>
      </p:bgPr>
    </p:bg>
    <p:spTree>
      <p:nvGrpSpPr>
        <p:cNvPr id="41" name="Shape 41"/>
        <p:cNvGrpSpPr/>
        <p:nvPr/>
      </p:nvGrpSpPr>
      <p:grpSpPr>
        <a:xfrm>
          <a:off x="0" y="0"/>
          <a:ext cx="0" cy="0"/>
          <a:chOff x="0" y="0"/>
          <a:chExt cx="0" cy="0"/>
        </a:xfrm>
      </p:grpSpPr>
      <p:sp>
        <p:nvSpPr>
          <p:cNvPr id="42" name="Google Shape;42;p10"/>
          <p:cNvSpPr txBox="1"/>
          <p:nvPr/>
        </p:nvSpPr>
        <p:spPr>
          <a:xfrm>
            <a:off x="7647959" y="5347471"/>
            <a:ext cx="4379400" cy="687900"/>
          </a:xfrm>
          <a:prstGeom prst="rect">
            <a:avLst/>
          </a:prstGeom>
          <a:noFill/>
          <a:ln>
            <a:noFill/>
          </a:ln>
        </p:spPr>
        <p:txBody>
          <a:bodyPr anchorCtr="0" anchor="t" bIns="91425" lIns="91425" spcFirstLastPara="1" rIns="91425" wrap="square" tIns="91425">
            <a:spAutoFit/>
          </a:bodyPr>
          <a:lstStyle/>
          <a:p>
            <a:pPr indent="0" lvl="0" marL="0" rtl="0" algn="r">
              <a:lnSpc>
                <a:spcPct val="115000"/>
              </a:lnSpc>
              <a:spcBef>
                <a:spcPts val="0"/>
              </a:spcBef>
              <a:spcAft>
                <a:spcPts val="0"/>
              </a:spcAft>
              <a:buNone/>
            </a:pPr>
            <a:r>
              <a:rPr b="1" lang="en-US" sz="1800">
                <a:solidFill>
                  <a:srgbClr val="111111"/>
                </a:solidFill>
                <a:latin typeface="Avenir"/>
                <a:ea typeface="Avenir"/>
                <a:cs typeface="Avenir"/>
                <a:sym typeface="Avenir"/>
              </a:rPr>
              <a:t>Joah Gerstenberg</a:t>
            </a:r>
            <a:endParaRPr b="1" sz="1800">
              <a:solidFill>
                <a:srgbClr val="111111"/>
              </a:solidFill>
              <a:latin typeface="Avenir"/>
              <a:ea typeface="Avenir"/>
              <a:cs typeface="Avenir"/>
              <a:sym typeface="Avenir"/>
            </a:endParaRPr>
          </a:p>
          <a:p>
            <a:pPr indent="0" lvl="0" marL="0" rtl="0" algn="r">
              <a:lnSpc>
                <a:spcPct val="115000"/>
              </a:lnSpc>
              <a:spcBef>
                <a:spcPts val="0"/>
              </a:spcBef>
              <a:spcAft>
                <a:spcPts val="0"/>
              </a:spcAft>
              <a:buNone/>
            </a:pPr>
            <a:r>
              <a:rPr b="1" lang="en-US" sz="1200">
                <a:solidFill>
                  <a:srgbClr val="555555"/>
                </a:solidFill>
                <a:latin typeface="Avenir"/>
                <a:ea typeface="Avenir"/>
                <a:cs typeface="Avenir"/>
                <a:sym typeface="Avenir"/>
              </a:rPr>
              <a:t>TL, Risk-based Agent Autonomy</a:t>
            </a:r>
            <a:endParaRPr b="1" sz="1200">
              <a:solidFill>
                <a:srgbClr val="555555"/>
              </a:solidFill>
              <a:latin typeface="Avenir"/>
              <a:ea typeface="Avenir"/>
              <a:cs typeface="Avenir"/>
              <a:sym typeface="Avenir"/>
            </a:endParaRPr>
          </a:p>
        </p:txBody>
      </p:sp>
      <p:pic>
        <p:nvPicPr>
          <p:cNvPr id="43" name="Google Shape;43;p10"/>
          <p:cNvPicPr preferRelativeResize="0"/>
          <p:nvPr/>
        </p:nvPicPr>
        <p:blipFill>
          <a:blip r:embed="rId4">
            <a:alphaModFix amt="73000"/>
          </a:blip>
          <a:stretch>
            <a:fillRect/>
          </a:stretch>
        </p:blipFill>
        <p:spPr>
          <a:xfrm>
            <a:off x="9725104" y="6086596"/>
            <a:ext cx="237743" cy="237745"/>
          </a:xfrm>
          <a:prstGeom prst="rect">
            <a:avLst/>
          </a:prstGeom>
          <a:noFill/>
          <a:ln>
            <a:noFill/>
          </a:ln>
        </p:spPr>
      </p:pic>
      <p:pic>
        <p:nvPicPr>
          <p:cNvPr id="44" name="Google Shape;44;p10"/>
          <p:cNvPicPr preferRelativeResize="0"/>
          <p:nvPr/>
        </p:nvPicPr>
        <p:blipFill>
          <a:blip r:embed="rId5">
            <a:alphaModFix amt="73000"/>
          </a:blip>
          <a:stretch>
            <a:fillRect/>
          </a:stretch>
        </p:blipFill>
        <p:spPr>
          <a:xfrm>
            <a:off x="10215960" y="6077453"/>
            <a:ext cx="256032" cy="256032"/>
          </a:xfrm>
          <a:prstGeom prst="rect">
            <a:avLst/>
          </a:prstGeom>
          <a:noFill/>
          <a:ln>
            <a:noFill/>
          </a:ln>
        </p:spPr>
      </p:pic>
      <p:pic>
        <p:nvPicPr>
          <p:cNvPr id="45" name="Google Shape;45;p10"/>
          <p:cNvPicPr preferRelativeResize="0"/>
          <p:nvPr/>
        </p:nvPicPr>
        <p:blipFill>
          <a:blip r:embed="rId6">
            <a:alphaModFix amt="73000"/>
          </a:blip>
          <a:stretch>
            <a:fillRect/>
          </a:stretch>
        </p:blipFill>
        <p:spPr>
          <a:xfrm>
            <a:off x="10676206" y="6077453"/>
            <a:ext cx="256032" cy="256032"/>
          </a:xfrm>
          <a:prstGeom prst="rect">
            <a:avLst/>
          </a:prstGeom>
          <a:noFill/>
          <a:ln>
            <a:noFill/>
          </a:ln>
        </p:spPr>
      </p:pic>
      <p:pic>
        <p:nvPicPr>
          <p:cNvPr id="46" name="Google Shape;46;p10"/>
          <p:cNvPicPr preferRelativeResize="0"/>
          <p:nvPr/>
        </p:nvPicPr>
        <p:blipFill>
          <a:blip r:embed="rId7">
            <a:alphaModFix amt="73000"/>
          </a:blip>
          <a:stretch>
            <a:fillRect/>
          </a:stretch>
        </p:blipFill>
        <p:spPr>
          <a:xfrm>
            <a:off x="11136451" y="6120121"/>
            <a:ext cx="256026" cy="170695"/>
          </a:xfrm>
          <a:prstGeom prst="rect">
            <a:avLst/>
          </a:prstGeom>
          <a:noFill/>
          <a:ln>
            <a:noFill/>
          </a:ln>
        </p:spPr>
      </p:pic>
      <p:pic>
        <p:nvPicPr>
          <p:cNvPr id="47" name="Google Shape;47;p10"/>
          <p:cNvPicPr preferRelativeResize="0"/>
          <p:nvPr/>
        </p:nvPicPr>
        <p:blipFill>
          <a:blip r:embed="rId8">
            <a:alphaModFix amt="73000"/>
          </a:blip>
          <a:stretch>
            <a:fillRect/>
          </a:stretch>
        </p:blipFill>
        <p:spPr>
          <a:xfrm>
            <a:off x="11596690" y="6068308"/>
            <a:ext cx="274319" cy="274321"/>
          </a:xfrm>
          <a:prstGeom prst="rect">
            <a:avLst/>
          </a:prstGeom>
          <a:noFill/>
          <a:ln>
            <a:noFill/>
          </a:ln>
        </p:spPr>
      </p:pic>
      <p:sp>
        <p:nvSpPr>
          <p:cNvPr id="48" name="Google Shape;48;p10"/>
          <p:cNvSpPr txBox="1"/>
          <p:nvPr/>
        </p:nvSpPr>
        <p:spPr>
          <a:xfrm>
            <a:off x="9040000" y="6380059"/>
            <a:ext cx="3000000" cy="3387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1000">
                <a:solidFill>
                  <a:srgbClr val="555555"/>
                </a:solidFill>
                <a:latin typeface="Avenir"/>
                <a:ea typeface="Avenir"/>
                <a:cs typeface="Avenir"/>
                <a:sym typeface="Avenir"/>
              </a:rPr>
              <a:t>AGNTCon </a:t>
            </a:r>
            <a:r>
              <a:rPr lang="en-US" sz="1000">
                <a:solidFill>
                  <a:srgbClr val="555555"/>
                </a:solidFill>
                <a:latin typeface="Avenir"/>
                <a:ea typeface="Avenir"/>
                <a:cs typeface="Avenir"/>
                <a:sym typeface="Avenir"/>
              </a:rPr>
              <a:t>· San Jose · </a:t>
            </a:r>
            <a:r>
              <a:rPr lang="en-US" sz="1000">
                <a:solidFill>
                  <a:srgbClr val="555555"/>
                </a:solidFill>
                <a:latin typeface="Avenir"/>
                <a:ea typeface="Avenir"/>
                <a:cs typeface="Avenir"/>
                <a:sym typeface="Avenir"/>
              </a:rPr>
              <a:t>October 2026</a:t>
            </a:r>
            <a:endParaRPr sz="1000">
              <a:solidFill>
                <a:schemeClr val="dk1"/>
              </a:solidFil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 name="Shape 53"/>
        <p:cNvGrpSpPr/>
        <p:nvPr/>
      </p:nvGrpSpPr>
      <p:grpSpPr>
        <a:xfrm>
          <a:off x="0" y="0"/>
          <a:ext cx="0" cy="0"/>
          <a:chOff x="0" y="0"/>
          <a:chExt cx="0" cy="0"/>
        </a:xfrm>
      </p:grpSpPr>
      <p:pic>
        <p:nvPicPr>
          <p:cNvPr id="54" name="Google Shape;54;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 name="Shape 59"/>
        <p:cNvGrpSpPr/>
        <p:nvPr/>
      </p:nvGrpSpPr>
      <p:grpSpPr>
        <a:xfrm>
          <a:off x="0" y="0"/>
          <a:ext cx="0" cy="0"/>
          <a:chOff x="0" y="0"/>
          <a:chExt cx="0" cy="0"/>
        </a:xfrm>
      </p:grpSpPr>
      <p:pic>
        <p:nvPicPr>
          <p:cNvPr id="60" name="Google Shape;60;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 name="Shape 65"/>
        <p:cNvGrpSpPr/>
        <p:nvPr/>
      </p:nvGrpSpPr>
      <p:grpSpPr>
        <a:xfrm>
          <a:off x="0" y="0"/>
          <a:ext cx="0" cy="0"/>
          <a:chOff x="0" y="0"/>
          <a:chExt cx="0" cy="0"/>
        </a:xfrm>
      </p:grpSpPr>
      <p:pic>
        <p:nvPicPr>
          <p:cNvPr id="66" name="Google Shape;66;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pic>
        <p:nvPicPr>
          <p:cNvPr id="72" name="Google Shape;72;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7" name="Shape 77"/>
        <p:cNvGrpSpPr/>
        <p:nvPr/>
      </p:nvGrpSpPr>
      <p:grpSpPr>
        <a:xfrm>
          <a:off x="0" y="0"/>
          <a:ext cx="0" cy="0"/>
          <a:chOff x="0" y="0"/>
          <a:chExt cx="0" cy="0"/>
        </a:xfrm>
      </p:grpSpPr>
      <p:pic>
        <p:nvPicPr>
          <p:cNvPr id="78" name="Google Shape;78;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3" name="Shape 83"/>
        <p:cNvGrpSpPr/>
        <p:nvPr/>
      </p:nvGrpSpPr>
      <p:grpSpPr>
        <a:xfrm>
          <a:off x="0" y="0"/>
          <a:ext cx="0" cy="0"/>
          <a:chOff x="0" y="0"/>
          <a:chExt cx="0" cy="0"/>
        </a:xfrm>
      </p:grpSpPr>
      <p:pic>
        <p:nvPicPr>
          <p:cNvPr id="84" name="Google Shape;84;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5" name="Google Shape;85;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86" name="Google Shape;86;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1" name="Shape 91"/>
        <p:cNvGrpSpPr/>
        <p:nvPr/>
      </p:nvGrpSpPr>
      <p:grpSpPr>
        <a:xfrm>
          <a:off x="0" y="0"/>
          <a:ext cx="0" cy="0"/>
          <a:chOff x="0" y="0"/>
          <a:chExt cx="0" cy="0"/>
        </a:xfrm>
      </p:grpSpPr>
      <p:pic>
        <p:nvPicPr>
          <p:cNvPr id="92" name="Google Shape;92;p17" title="worst-comment-final-v75.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93" name="Google Shape;93;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pic>
        <p:nvPicPr>
          <p:cNvPr id="99" name="Google Shape;99;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0" name="Google Shape;100;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1" name="Google Shape;101;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06" name="Shape 106"/>
        <p:cNvGrpSpPr/>
        <p:nvPr/>
      </p:nvGrpSpPr>
      <p:grpSpPr>
        <a:xfrm>
          <a:off x="0" y="0"/>
          <a:ext cx="0" cy="0"/>
          <a:chOff x="0" y="0"/>
          <a:chExt cx="0" cy="0"/>
        </a:xfrm>
      </p:grpSpPr>
      <p:sp>
        <p:nvSpPr>
          <p:cNvPr id="107" name="Google Shape;107;p19"/>
          <p:cNvSpPr txBox="1"/>
          <p:nvPr/>
        </p:nvSpPr>
        <p:spPr>
          <a:xfrm>
            <a:off x="619233" y="2351560"/>
            <a:ext cx="49836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OFFLINE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Compare findings with an answer key</a:t>
            </a:r>
            <a:endParaRPr sz="3200">
              <a:solidFill>
                <a:srgbClr val="FFFFFF"/>
              </a:solidFill>
              <a:latin typeface="Short Stack"/>
              <a:ea typeface="Short Stack"/>
              <a:cs typeface="Short Stack"/>
              <a:sym typeface="Short Stack"/>
            </a:endParaRPr>
          </a:p>
        </p:txBody>
      </p:sp>
      <p:sp>
        <p:nvSpPr>
          <p:cNvPr id="108" name="Google Shape;108;p19"/>
          <p:cNvSpPr txBox="1"/>
          <p:nvPr/>
        </p:nvSpPr>
        <p:spPr>
          <a:xfrm>
            <a:off x="5955287" y="2351550"/>
            <a:ext cx="5617500" cy="21549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ONLINE EVALS</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Observe what happens in production</a:t>
            </a:r>
            <a:endParaRPr sz="3200">
              <a:solidFill>
                <a:srgbClr val="FFFFFF"/>
              </a:solidFill>
              <a:latin typeface="Short Stack"/>
              <a:ea typeface="Short Stack"/>
              <a:cs typeface="Short Stack"/>
              <a:sym typeface="Short Stack"/>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13" name="Shape 113"/>
        <p:cNvGrpSpPr/>
        <p:nvPr/>
      </p:nvGrpSpPr>
      <p:grpSpPr>
        <a:xfrm>
          <a:off x="0" y="0"/>
          <a:ext cx="0" cy="0"/>
          <a:chOff x="0" y="0"/>
          <a:chExt cx="0" cy="0"/>
        </a:xfrm>
      </p:grpSpPr>
      <p:sp>
        <p:nvSpPr>
          <p:cNvPr id="114" name="Google Shape;114;p20"/>
          <p:cNvSpPr txBox="1"/>
          <p:nvPr/>
        </p:nvSpPr>
        <p:spPr>
          <a:xfrm>
            <a:off x="74679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PRECISION</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Valid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findings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positives)</a:t>
            </a:r>
            <a:endParaRPr sz="1900">
              <a:solidFill>
                <a:srgbClr val="FFFFFF"/>
              </a:solidFill>
              <a:latin typeface="Short Stack"/>
              <a:ea typeface="Short Stack"/>
              <a:cs typeface="Short Stack"/>
              <a:sym typeface="Short Stack"/>
            </a:endParaRPr>
          </a:p>
        </p:txBody>
      </p:sp>
      <p:sp>
        <p:nvSpPr>
          <p:cNvPr id="115" name="Google Shape;115;p20"/>
          <p:cNvSpPr txBox="1"/>
          <p:nvPr/>
        </p:nvSpPr>
        <p:spPr>
          <a:xfrm>
            <a:off x="6507515" y="1581890"/>
            <a:ext cx="4937700" cy="3694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RECALL</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Known defects found</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600">
                <a:solidFill>
                  <a:srgbClr val="FFFFFF"/>
                </a:solidFill>
                <a:latin typeface="Short Stack"/>
                <a:ea typeface="Short Stack"/>
                <a:cs typeface="Short Stack"/>
                <a:sym typeface="Short Stack"/>
              </a:rPr>
              <a:t>All known defects</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26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a:t>
            </a:r>
            <a:endParaRPr sz="19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1900">
                <a:solidFill>
                  <a:srgbClr val="FFFFFF"/>
                </a:solidFill>
                <a:latin typeface="Short Stack"/>
                <a:ea typeface="Short Stack"/>
                <a:cs typeface="Short Stack"/>
                <a:sym typeface="Short Stack"/>
              </a:rPr>
              <a:t>(true positives + false negatives)</a:t>
            </a:r>
            <a:endParaRPr sz="1900">
              <a:solidFill>
                <a:srgbClr val="FFFFFF"/>
              </a:solidFill>
              <a:latin typeface="Short Stack"/>
              <a:ea typeface="Short Stack"/>
              <a:cs typeface="Short Stack"/>
              <a:sym typeface="Short Stack"/>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20" name="Shape 120"/>
        <p:cNvGrpSpPr/>
        <p:nvPr/>
      </p:nvGrpSpPr>
      <p:grpSpPr>
        <a:xfrm>
          <a:off x="0" y="0"/>
          <a:ext cx="0" cy="0"/>
          <a:chOff x="0" y="0"/>
          <a:chExt cx="0" cy="0"/>
        </a:xfrm>
      </p:grpSpPr>
      <p:sp>
        <p:nvSpPr>
          <p:cNvPr id="121" name="Google Shape;121;p21"/>
          <p:cNvSpPr txBox="1"/>
          <p:nvPr/>
        </p:nvSpPr>
        <p:spPr>
          <a:xfrm>
            <a:off x="746783" y="1874410"/>
            <a:ext cx="4937700" cy="2801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ADDRESS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0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Findings acted on</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a:t>
            </a:r>
            <a:endParaRPr sz="25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500">
                <a:solidFill>
                  <a:srgbClr val="FFFFFF"/>
                </a:solidFill>
                <a:latin typeface="Short Stack"/>
                <a:ea typeface="Short Stack"/>
                <a:cs typeface="Short Stack"/>
                <a:sym typeface="Short Stack"/>
              </a:rPr>
              <a:t>Settled findings</a:t>
            </a:r>
            <a:endParaRPr sz="2500">
              <a:solidFill>
                <a:srgbClr val="FFFFFF"/>
              </a:solidFill>
              <a:latin typeface="Short Stack"/>
              <a:ea typeface="Short Stack"/>
              <a:cs typeface="Short Stack"/>
              <a:sym typeface="Short Stack"/>
            </a:endParaRPr>
          </a:p>
        </p:txBody>
      </p:sp>
      <p:sp>
        <p:nvSpPr>
          <p:cNvPr id="122" name="Google Shape;122;p21"/>
          <p:cNvSpPr txBox="1"/>
          <p:nvPr/>
        </p:nvSpPr>
        <p:spPr>
          <a:xfrm>
            <a:off x="6507502" y="1874410"/>
            <a:ext cx="4937700" cy="3109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3200">
                <a:solidFill>
                  <a:srgbClr val="FFFFFF"/>
                </a:solidFill>
                <a:latin typeface="Short Stack"/>
                <a:ea typeface="Short Stack"/>
                <a:cs typeface="Short Stack"/>
                <a:sym typeface="Short Stack"/>
              </a:rPr>
              <a:t>CHANGE FAIL RATE</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3200">
              <a:solidFill>
                <a:srgbClr val="FFFFFF"/>
              </a:solidFill>
              <a:latin typeface="Short Stack"/>
              <a:ea typeface="Short Stack"/>
              <a:cs typeface="Short Stack"/>
              <a:sym typeface="Short Stack"/>
            </a:endParaRPr>
          </a:p>
          <a:p>
            <a:pPr indent="0" lvl="0" marL="0" rtl="0" algn="l">
              <a:spcBef>
                <a:spcPts val="0"/>
              </a:spcBef>
              <a:spcAft>
                <a:spcPts val="0"/>
              </a:spcAft>
              <a:buNone/>
            </a:pPr>
            <a:r>
              <a:t/>
            </a:r>
            <a:endParaRPr sz="11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Changes from findings</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later fixed or reverted</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All changes made</a:t>
            </a:r>
            <a:endParaRPr sz="2300">
              <a:solidFill>
                <a:srgbClr val="FFFFFF"/>
              </a:solidFill>
              <a:latin typeface="Short Stack"/>
              <a:ea typeface="Short Stack"/>
              <a:cs typeface="Short Stack"/>
              <a:sym typeface="Short Stack"/>
            </a:endParaRPr>
          </a:p>
          <a:p>
            <a:pPr indent="0" lvl="0" marL="0" rtl="0" algn="l">
              <a:spcBef>
                <a:spcPts val="0"/>
              </a:spcBef>
              <a:spcAft>
                <a:spcPts val="0"/>
              </a:spcAft>
              <a:buNone/>
            </a:pPr>
            <a:r>
              <a:rPr lang="en-US" sz="2300">
                <a:solidFill>
                  <a:srgbClr val="FFFFFF"/>
                </a:solidFill>
                <a:latin typeface="Short Stack"/>
                <a:ea typeface="Short Stack"/>
                <a:cs typeface="Short Stack"/>
                <a:sym typeface="Short Stack"/>
              </a:rPr>
              <a:t>from findings</a:t>
            </a:r>
            <a:endParaRPr sz="2300">
              <a:solidFill>
                <a:srgbClr val="FFFFFF"/>
              </a:solidFill>
              <a:latin typeface="Short Stack"/>
              <a:ea typeface="Short Stack"/>
              <a:cs typeface="Short Stack"/>
              <a:sym typeface="Short Stack"/>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pic>
        <p:nvPicPr>
          <p:cNvPr id="128" name="Google Shape;128;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29" name="Google Shape;129;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30" name="Google Shape;130;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5" name="Shape 135"/>
        <p:cNvGrpSpPr/>
        <p:nvPr/>
      </p:nvGrpSpPr>
      <p:grpSpPr>
        <a:xfrm>
          <a:off x="0" y="0"/>
          <a:ext cx="0" cy="0"/>
          <a:chOff x="0" y="0"/>
          <a:chExt cx="0" cy="0"/>
        </a:xfrm>
      </p:grpSpPr>
      <p:pic>
        <p:nvPicPr>
          <p:cNvPr id="136" name="Google Shape;136;p23"/>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37" name="Google Shape;137;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38" name="Google Shape;138;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3" name="Shape 143"/>
        <p:cNvGrpSpPr/>
        <p:nvPr/>
      </p:nvGrpSpPr>
      <p:grpSpPr>
        <a:xfrm>
          <a:off x="0" y="0"/>
          <a:ext cx="0" cy="0"/>
          <a:chOff x="0" y="0"/>
          <a:chExt cx="0" cy="0"/>
        </a:xfrm>
      </p:grpSpPr>
      <p:pic>
        <p:nvPicPr>
          <p:cNvPr id="144" name="Google Shape;144;p24" title="reviewbench-black-v76.png"/>
          <p:cNvPicPr preferRelativeResize="0"/>
          <p:nvPr/>
        </p:nvPicPr>
        <p:blipFill>
          <a:blip r:embed="rId3">
            <a:alphaModFix/>
          </a:blip>
          <a:stretch>
            <a:fillRect/>
          </a:stretch>
        </p:blipFill>
        <p:spPr>
          <a:xfrm>
            <a:off x="0" y="0"/>
            <a:ext cx="12188951" cy="6858001"/>
          </a:xfrm>
          <a:prstGeom prst="rect">
            <a:avLst/>
          </a:prstGeom>
          <a:noFill/>
          <a:ln>
            <a:noFill/>
          </a:ln>
        </p:spPr>
      </p:pic>
      <p:sp>
        <p:nvSpPr>
          <p:cNvPr id="145" name="Google Shape;145;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FFFFFF"/>
                </a:solidFill>
                <a:latin typeface="Avenir"/>
                <a:ea typeface="Avenir"/>
                <a:cs typeface="Avenir"/>
                <a:sym typeface="Avenir"/>
              </a:rPr>
              <a:t>Block internal data</a:t>
            </a:r>
            <a:endParaRPr>
              <a:solidFill>
                <a:srgbClr val="FFFFFF"/>
              </a:solidFill>
            </a:endParaRPr>
          </a:p>
        </p:txBody>
      </p:sp>
      <p:pic>
        <p:nvPicPr>
          <p:cNvPr id="146" name="Google Shape;146;p24" title="source-17-0.jpg">
            <a:hlinkClick r:id="rId4"/>
          </p:cNvPr>
          <p:cNvPicPr preferRelativeResize="0"/>
          <p:nvPr/>
        </p:nvPicPr>
        <p:blipFill rotWithShape="1">
          <a:blip r:embed="rId5">
            <a:alphaModFix/>
          </a:blip>
          <a:srcRect b="8147" l="0" r="0" t="0"/>
          <a:stretch/>
        </p:blipFill>
        <p:spPr>
          <a:xfrm>
            <a:off x="2404875" y="1709925"/>
            <a:ext cx="7406624" cy="38298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1" name="Shape 151"/>
        <p:cNvGrpSpPr/>
        <p:nvPr/>
      </p:nvGrpSpPr>
      <p:grpSpPr>
        <a:xfrm>
          <a:off x="0" y="0"/>
          <a:ext cx="0" cy="0"/>
          <a:chOff x="0" y="0"/>
          <a:chExt cx="0" cy="0"/>
        </a:xfrm>
      </p:grpSpPr>
      <p:pic>
        <p:nvPicPr>
          <p:cNvPr id="152" name="Google Shape;152;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53" name="Google Shape;153;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8" name="Shape 158"/>
        <p:cNvGrpSpPr/>
        <p:nvPr/>
      </p:nvGrpSpPr>
      <p:grpSpPr>
        <a:xfrm>
          <a:off x="0" y="0"/>
          <a:ext cx="0" cy="0"/>
          <a:chOff x="0" y="0"/>
          <a:chExt cx="0" cy="0"/>
        </a:xfrm>
      </p:grpSpPr>
      <p:pic>
        <p:nvPicPr>
          <p:cNvPr id="159" name="Google Shape;159;p26" title="specialists-v74.png"/>
          <p:cNvPicPr preferRelativeResize="0"/>
          <p:nvPr/>
        </p:nvPicPr>
        <p:blipFill rotWithShape="1">
          <a:blip r:embed="rId3">
            <a:alphaModFix/>
          </a:blip>
          <a:srcRect b="10197" l="0" r="0" t="10197"/>
          <a:stretch/>
        </p:blipFill>
        <p:spPr>
          <a:xfrm>
            <a:off x="1762479" y="1154185"/>
            <a:ext cx="8667042" cy="3882879"/>
          </a:xfrm>
          <a:prstGeom prst="rect">
            <a:avLst/>
          </a:prstGeom>
          <a:noFill/>
          <a:ln>
            <a:noFill/>
          </a:ln>
        </p:spPr>
      </p:pic>
      <p:sp>
        <p:nvSpPr>
          <p:cNvPr id="160" name="Google Shape;160;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61" name="Google Shape;161;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6" name="Shape 166"/>
        <p:cNvGrpSpPr/>
        <p:nvPr/>
      </p:nvGrpSpPr>
      <p:grpSpPr>
        <a:xfrm>
          <a:off x="0" y="0"/>
          <a:ext cx="0" cy="0"/>
          <a:chOff x="0" y="0"/>
          <a:chExt cx="0" cy="0"/>
        </a:xfrm>
      </p:grpSpPr>
      <p:pic>
        <p:nvPicPr>
          <p:cNvPr id="167" name="Google Shape;167;p27" title="architecture-clean-v74.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168" name="Google Shape;168;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69" name="Google Shape;169;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174" name="Shape 174"/>
        <p:cNvGrpSpPr/>
        <p:nvPr/>
      </p:nvGrpSpPr>
      <p:grpSpPr>
        <a:xfrm>
          <a:off x="0" y="0"/>
          <a:ext cx="0" cy="0"/>
          <a:chOff x="0" y="0"/>
          <a:chExt cx="0" cy="0"/>
        </a:xfrm>
      </p:grpSpPr>
      <p:graphicFrame>
        <p:nvGraphicFramePr>
          <p:cNvPr id="175" name="Google Shape;175;p28"/>
          <p:cNvGraphicFramePr/>
          <p:nvPr/>
        </p:nvGraphicFramePr>
        <p:xfrm>
          <a:off x="1161288" y="2011680"/>
          <a:ext cx="3000000" cy="3000000"/>
        </p:xfrm>
        <a:graphic>
          <a:graphicData uri="http://schemas.openxmlformats.org/drawingml/2006/table">
            <a:tbl>
              <a:tblPr>
                <a:noFill/>
                <a:tableStyleId>{16A2005D-31DB-4B18-9C09-3F02C8CEB87B}</a:tableStyleId>
              </a:tblPr>
              <a:tblGrid>
                <a:gridCol w="5131500"/>
                <a:gridCol w="1581325"/>
                <a:gridCol w="1581325"/>
                <a:gridCol w="1581325"/>
              </a:tblGrid>
              <a:tr h="749800">
                <a:tc>
                  <a:txBody>
                    <a:bodyPr/>
                    <a:lstStyle/>
                    <a:p>
                      <a:pPr indent="0" lvl="0" marL="0" marR="0" rtl="0" algn="l">
                        <a:spcBef>
                          <a:spcPts val="0"/>
                        </a:spcBef>
                        <a:spcAft>
                          <a:spcPts val="0"/>
                        </a:spcAft>
                        <a:buClr>
                          <a:srgbClr val="182C36"/>
                        </a:buClr>
                        <a:buSzPts val="1500"/>
                        <a:buFont typeface="Avenir"/>
                        <a:buNone/>
                      </a:pPr>
                      <a:r>
                        <a:rPr b="1" lang="en-US" sz="2000" u="none" cap="none" strike="noStrike">
                          <a:solidFill>
                            <a:srgbClr val="FFFFFF"/>
                          </a:solidFill>
                          <a:latin typeface="Avenir"/>
                          <a:ea typeface="Avenir"/>
                          <a:cs typeface="Avenir"/>
                          <a:sym typeface="Avenir"/>
                        </a:rPr>
                        <a:t>Reviewer</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Precision</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Recall</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00"/>
                        <a:buFont typeface="Avenir"/>
                        <a:buNone/>
                      </a:pPr>
                      <a:r>
                        <a:rPr b="1" lang="en-US" sz="2000">
                          <a:solidFill>
                            <a:srgbClr val="FFFFFF"/>
                          </a:solidFill>
                          <a:latin typeface="Avenir"/>
                          <a:ea typeface="Avenir"/>
                          <a:cs typeface="Avenir"/>
                          <a:sym typeface="Avenir"/>
                        </a:rPr>
                        <a:t>F1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block/review, all findings</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91.5%</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44.4%</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59.8%</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block/review, high confidence</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96.6%</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21.9%</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None/>
                      </a:pPr>
                      <a:r>
                        <a:rPr lang="en-US" sz="2000">
                          <a:solidFill>
                            <a:srgbClr val="FFFFFF"/>
                          </a:solidFill>
                          <a:latin typeface="Avenir"/>
                          <a:ea typeface="Avenir"/>
                          <a:cs typeface="Avenir"/>
                          <a:sym typeface="Avenir"/>
                        </a:rPr>
                        <a:t>35.7%</a:t>
                      </a:r>
                      <a:endParaRPr sz="2000">
                        <a:solidFill>
                          <a:srgbClr val="FFFFFF"/>
                        </a:solidFill>
                        <a:latin typeface="Avenir"/>
                        <a:ea typeface="Avenir"/>
                        <a:cs typeface="Avenir"/>
                        <a:sym typeface="Avenir"/>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Copilot Code Review</a:t>
                      </a:r>
                      <a:endParaRPr sz="2000">
                        <a:solidFill>
                          <a:srgbClr val="FFFFFF"/>
                        </a:solidFill>
                        <a:latin typeface="Avenir"/>
                        <a:ea typeface="Avenir"/>
                        <a:cs typeface="Avenir"/>
                        <a:sym typeface="Avenir"/>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87.8%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26.0%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40.1%</a:t>
                      </a:r>
                      <a:endParaRPr sz="2000">
                        <a:solidFill>
                          <a:srgbClr val="FFFFFF"/>
                        </a:solidFill>
                      </a:endParaRPr>
                    </a:p>
                  </a:txBody>
                  <a:tcPr marT="114300" marB="95250" marR="76200" marL="114300">
                    <a:solidFill>
                      <a:srgbClr val="000000"/>
                    </a:solidFill>
                  </a:tcPr>
                </a:tc>
              </a:tr>
              <a:tr h="749800">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Devin AI</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84.0%</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23.8%</a:t>
                      </a:r>
                      <a:endParaRPr sz="2000">
                        <a:solidFill>
                          <a:srgbClr val="FFFFFF"/>
                        </a:solidFill>
                      </a:endParaRPr>
                    </a:p>
                  </a:txBody>
                  <a:tcPr marT="114300" marB="95250" marR="76200" marL="114300">
                    <a:solidFill>
                      <a:srgbClr val="000000"/>
                    </a:solidFill>
                  </a:tcPr>
                </a:tc>
                <a:tc>
                  <a:txBody>
                    <a:bodyPr/>
                    <a:lstStyle/>
                    <a:p>
                      <a:pPr indent="0" lvl="0" marL="0" marR="0" rtl="0" algn="l">
                        <a:spcBef>
                          <a:spcPts val="0"/>
                        </a:spcBef>
                        <a:spcAft>
                          <a:spcPts val="0"/>
                        </a:spcAft>
                        <a:buClr>
                          <a:srgbClr val="182C36"/>
                        </a:buClr>
                        <a:buSzPts val="1575"/>
                        <a:buFont typeface="Avenir"/>
                        <a:buNone/>
                      </a:pPr>
                      <a:r>
                        <a:rPr lang="en-US" sz="2000">
                          <a:solidFill>
                            <a:srgbClr val="FFFFFF"/>
                          </a:solidFill>
                          <a:latin typeface="Avenir"/>
                          <a:ea typeface="Avenir"/>
                          <a:cs typeface="Avenir"/>
                          <a:sym typeface="Avenir"/>
                        </a:rPr>
                        <a:t>37.0%</a:t>
                      </a:r>
                      <a:endParaRPr sz="2000">
                        <a:solidFill>
                          <a:srgbClr val="FFFFFF"/>
                        </a:solidFill>
                      </a:endParaRPr>
                    </a:p>
                  </a:txBody>
                  <a:tcPr marT="114300" marB="95250" marR="76200" marL="114300">
                    <a:solidFill>
                      <a:srgbClr val="000000"/>
                    </a:solidFill>
                  </a:tcPr>
                </a:tc>
              </a:tr>
            </a:tbl>
          </a:graphicData>
        </a:graphic>
      </p:graphicFrame>
      <p:sp>
        <p:nvSpPr>
          <p:cNvPr id="176" name="Google Shape;176;p28"/>
          <p:cNvSpPr/>
          <p:nvPr/>
        </p:nvSpPr>
        <p:spPr>
          <a:xfrm>
            <a:off x="1161288" y="1051560"/>
            <a:ext cx="98754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lang="en-US" sz="2100">
                <a:solidFill>
                  <a:srgbClr val="FFFFFF"/>
                </a:solidFill>
                <a:latin typeface="Short Stack"/>
                <a:ea typeface="Short Stack"/>
                <a:cs typeface="Short Stack"/>
                <a:sym typeface="Short Stack"/>
              </a:rPr>
              <a:t>Grounded scores</a:t>
            </a:r>
            <a:endParaRPr>
              <a:solidFill>
                <a:srgbClr val="FFFFFF"/>
              </a:solidFill>
            </a:endParaRPr>
          </a:p>
        </p:txBody>
      </p:sp>
      <p:sp>
        <p:nvSpPr>
          <p:cNvPr id="177" name="Google Shape;177;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rgbClr val="FFFFFF"/>
                </a:solidFill>
                <a:latin typeface="Avenir"/>
                <a:ea typeface="Avenir"/>
                <a:cs typeface="Avenir"/>
                <a:sym typeface="Avenir"/>
                <a:hlinkClick r:id="rId4">
                  <a:extLst>
                    <a:ext uri="{A12FA001-AC4F-418D-AE19-62706E023703}">
                      <ahyp:hlinkClr val="tx"/>
                    </a:ext>
                  </a:extLst>
                </a:hlinkClick>
              </a:rPr>
              <a:t>block/review on GitHub · 21 of 25 test PRs</a:t>
            </a:r>
            <a:endParaRPr>
              <a:solidFill>
                <a:srgbClr val="FFFFFF"/>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2" name="Shape 182"/>
        <p:cNvGrpSpPr/>
        <p:nvPr/>
      </p:nvGrpSpPr>
      <p:grpSpPr>
        <a:xfrm>
          <a:off x="0" y="0"/>
          <a:ext cx="0" cy="0"/>
          <a:chOff x="0" y="0"/>
          <a:chExt cx="0" cy="0"/>
        </a:xfrm>
      </p:grpSpPr>
      <p:pic>
        <p:nvPicPr>
          <p:cNvPr id="183" name="Google Shape;183;p29" title="tiering-v74.png"/>
          <p:cNvPicPr preferRelativeResize="0"/>
          <p:nvPr/>
        </p:nvPicPr>
        <p:blipFill rotWithShape="1">
          <a:blip r:embed="rId3">
            <a:alphaModFix/>
          </a:blip>
          <a:srcRect b="10" l="0" r="0" t="10"/>
          <a:stretch/>
        </p:blipFill>
        <p:spPr>
          <a:xfrm>
            <a:off x="804672" y="0"/>
            <a:ext cx="10579609" cy="5952745"/>
          </a:xfrm>
          <a:prstGeom prst="rect">
            <a:avLst/>
          </a:prstGeom>
          <a:noFill/>
          <a:ln>
            <a:noFill/>
          </a:ln>
        </p:spPr>
      </p:pic>
      <p:sp>
        <p:nvSpPr>
          <p:cNvPr id="184" name="Google Shape;184;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185" name="Google Shape;185;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0" name="Shape 190"/>
        <p:cNvGrpSpPr/>
        <p:nvPr/>
      </p:nvGrpSpPr>
      <p:grpSpPr>
        <a:xfrm>
          <a:off x="0" y="0"/>
          <a:ext cx="0" cy="0"/>
          <a:chOff x="0" y="0"/>
          <a:chExt cx="0" cy="0"/>
        </a:xfrm>
      </p:grpSpPr>
      <p:sp>
        <p:nvSpPr>
          <p:cNvPr id="191" name="Google Shape;191;p30"/>
          <p:cNvSpPr/>
          <p:nvPr/>
        </p:nvSpPr>
        <p:spPr>
          <a:xfrm>
            <a:off x="685800" y="1977875"/>
            <a:ext cx="4953600" cy="27939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Irreversible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product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192" name="Google Shape;192;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193" name="Google Shape;193;p30"/>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8" name="Shape 198"/>
        <p:cNvGrpSpPr/>
        <p:nvPr/>
      </p:nvGrpSpPr>
      <p:grpSpPr>
        <a:xfrm>
          <a:off x="0" y="0"/>
          <a:ext cx="0" cy="0"/>
          <a:chOff x="0" y="0"/>
          <a:chExt cx="0" cy="0"/>
        </a:xfrm>
      </p:grpSpPr>
      <p:pic>
        <p:nvPicPr>
          <p:cNvPr id="199" name="Google Shape;199;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4" name="Shape 204"/>
        <p:cNvGrpSpPr/>
        <p:nvPr/>
      </p:nvGrpSpPr>
      <p:grpSpPr>
        <a:xfrm>
          <a:off x="0" y="0"/>
          <a:ext cx="0" cy="0"/>
          <a:chOff x="0" y="0"/>
          <a:chExt cx="0" cy="0"/>
        </a:xfrm>
      </p:grpSpPr>
      <p:pic>
        <p:nvPicPr>
          <p:cNvPr id="205" name="Google Shape;205;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06" name="Google Shape;206;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pic>
        <p:nvPicPr>
          <p:cNvPr id="212" name="Google Shape;212;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13" name="Google Shape;213;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14" name="Google Shape;214;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19" name="Shape 219"/>
        <p:cNvGrpSpPr/>
        <p:nvPr/>
      </p:nvGrpSpPr>
      <p:grpSpPr>
        <a:xfrm>
          <a:off x="0" y="0"/>
          <a:ext cx="0" cy="0"/>
          <a:chOff x="0" y="0"/>
          <a:chExt cx="0" cy="0"/>
        </a:xfrm>
      </p:grpSpPr>
      <p:sp>
        <p:nvSpPr>
          <p:cNvPr id="220" name="Google Shape;220;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Prioritize precision</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over recall</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25" name="Shape 225"/>
        <p:cNvGrpSpPr/>
        <p:nvPr/>
      </p:nvGrpSpPr>
      <p:grpSpPr>
        <a:xfrm>
          <a:off x="0" y="0"/>
          <a:ext cx="0" cy="0"/>
          <a:chOff x="0" y="0"/>
          <a:chExt cx="0" cy="0"/>
        </a:xfrm>
      </p:grpSpPr>
      <p:sp>
        <p:nvSpPr>
          <p:cNvPr id="226" name="Google Shape;226;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Give your agents</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the big picture</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1" name="Shape 231"/>
        <p:cNvGrpSpPr/>
        <p:nvPr/>
      </p:nvGrpSpPr>
      <p:grpSpPr>
        <a:xfrm>
          <a:off x="0" y="0"/>
          <a:ext cx="0" cy="0"/>
          <a:chOff x="0" y="0"/>
          <a:chExt cx="0" cy="0"/>
        </a:xfrm>
      </p:grpSpPr>
      <p:sp>
        <p:nvSpPr>
          <p:cNvPr id="232" name="Google Shape;232;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Build alignment</a:t>
            </a:r>
            <a:endParaRPr b="1" sz="4800">
              <a:solidFill>
                <a:srgbClr val="FFFFFF"/>
              </a:solidFill>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solidFill>
                  <a:srgbClr val="FFFFFF"/>
                </a:solidFill>
                <a:latin typeface="Avenir"/>
                <a:ea typeface="Avenir"/>
                <a:cs typeface="Avenir"/>
                <a:sym typeface="Avenir"/>
              </a:rPr>
              <a:t>before the code is written</a:t>
            </a:r>
            <a:endParaRPr b="1" sz="4800">
              <a:solidFill>
                <a:srgbClr val="FFFFFF"/>
              </a:solidFill>
              <a:latin typeface="Avenir"/>
              <a:ea typeface="Avenir"/>
              <a:cs typeface="Avenir"/>
              <a:sym typeface="Avenir"/>
            </a:endParaRPr>
          </a:p>
          <a:p>
            <a:pPr indent="0" lvl="0" marL="0" rtl="0" algn="ctr">
              <a:spcBef>
                <a:spcPts val="0"/>
              </a:spcBef>
              <a:spcAft>
                <a:spcPts val="0"/>
              </a:spcAft>
              <a:buNone/>
            </a:pPr>
            <a:r>
              <a:t/>
            </a:r>
            <a:endParaRPr b="1" sz="4800">
              <a:solidFill>
                <a:srgbClr val="FFFFFF"/>
              </a:solidFill>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7" name="Shape 237"/>
        <p:cNvGrpSpPr/>
        <p:nvPr/>
      </p:nvGrpSpPr>
      <p:grpSpPr>
        <a:xfrm>
          <a:off x="0" y="0"/>
          <a:ext cx="0" cy="0"/>
          <a:chOff x="0" y="0"/>
          <a:chExt cx="0" cy="0"/>
        </a:xfrm>
      </p:grpSpPr>
      <p:pic>
        <p:nvPicPr>
          <p:cNvPr id="238" name="Google Shape;238;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39" name="Google Shape;239;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40" name="Google Shape;240;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