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D851BFA-1A92-43F3-8B43-BAE79F7E3BFD}">
  <a:tblStyle styleId="{3D851BFA-1A92-43F3-8B43-BAE79F7E3BF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4.png"/><Relationship Id="rId8"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9.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hyperlink" Target="https://review-bench.ai/" TargetMode="External"/><Relationship Id="rId5"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3.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0.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5.png"/><Relationship Id="rId5" Type="http://schemas.openxmlformats.org/officeDocument/2006/relationships/hyperlink" Target="https://joahg.dev/cut-the-noise" TargetMode="External"/><Relationship Id="rId6"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647959" y="5347471"/>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725104" y="6086596"/>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215960" y="6077453"/>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676206" y="6077453"/>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136451" y="6120121"/>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596690" y="6068308"/>
            <a:ext cx="274319" cy="274321"/>
          </a:xfrm>
          <a:prstGeom prst="rect">
            <a:avLst/>
          </a:prstGeom>
          <a:noFill/>
          <a:ln>
            <a:noFill/>
          </a:ln>
        </p:spPr>
      </p:pic>
      <p:sp>
        <p:nvSpPr>
          <p:cNvPr id="48" name="Google Shape;48;p10"/>
          <p:cNvSpPr txBox="1"/>
          <p:nvPr/>
        </p:nvSpPr>
        <p:spPr>
          <a:xfrm>
            <a:off x="9040000" y="6380059"/>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graphicFrame>
        <p:nvGraphicFramePr>
          <p:cNvPr id="175" name="Google Shape;175;p28"/>
          <p:cNvGraphicFramePr/>
          <p:nvPr/>
        </p:nvGraphicFramePr>
        <p:xfrm>
          <a:off x="1161288" y="2011680"/>
          <a:ext cx="3000000" cy="3000000"/>
        </p:xfrm>
        <a:graphic>
          <a:graphicData uri="http://schemas.openxmlformats.org/drawingml/2006/table">
            <a:tbl>
              <a:tblPr>
                <a:noFill/>
                <a:tableStyleId>{3D851BFA-1A92-43F3-8B43-BAE79F7E3BFD}</a:tableStyleId>
              </a:tblPr>
              <a:tblGrid>
                <a:gridCol w="5131500"/>
                <a:gridCol w="1581325"/>
                <a:gridCol w="1581325"/>
                <a:gridCol w="1581325"/>
              </a:tblGrid>
              <a:tr h="749800">
                <a:tc>
                  <a:txBody>
                    <a:bodyPr/>
                    <a:lstStyle/>
                    <a:p>
                      <a:pPr indent="0" lvl="0" marL="0" marR="0" rtl="0" algn="l">
                        <a:spcBef>
                          <a:spcPts val="0"/>
                        </a:spcBef>
                        <a:spcAft>
                          <a:spcPts val="0"/>
                        </a:spcAft>
                        <a:buClr>
                          <a:srgbClr val="182C36"/>
                        </a:buClr>
                        <a:buSzPts val="1500"/>
                        <a:buFont typeface="Avenir"/>
                        <a:buNone/>
                      </a:pPr>
                      <a:r>
                        <a:rPr b="1" lang="en-US" sz="2000" u="none" cap="none" strike="noStrike">
                          <a:solidFill>
                            <a:srgbClr val="FFFFFF"/>
                          </a:solidFill>
                          <a:latin typeface="Avenir"/>
                          <a:ea typeface="Avenir"/>
                          <a:cs typeface="Avenir"/>
                          <a:sym typeface="Avenir"/>
                        </a:rPr>
                        <a:t>Reviewer</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Precision</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Recall</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F1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block/review, all findings</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91.5%</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44.4%</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59.8%</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block/review, high confidence</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96.6%</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21.9%</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35.7%</a:t>
                      </a:r>
                      <a:endParaRPr sz="2000">
                        <a:solidFill>
                          <a:srgbClr val="FFFFFF"/>
                        </a:solidFill>
                        <a:latin typeface="Avenir"/>
                        <a:ea typeface="Avenir"/>
                        <a:cs typeface="Avenir"/>
                        <a:sym typeface="Avenir"/>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Copilot Code Review</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87.8%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26.0%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40.1%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Devin AI</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84.0%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23.8%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37.0%</a:t>
                      </a:r>
                      <a:endParaRPr sz="2000">
                        <a:solidFill>
                          <a:srgbClr val="FFFFFF"/>
                        </a:solidFill>
                      </a:endParaRPr>
                    </a:p>
                  </a:txBody>
                  <a:tcPr marT="114300" marB="95250" marR="76200" marL="114300">
                    <a:solidFill>
                      <a:srgbClr val="000000"/>
                    </a:solidFill>
                  </a:tcPr>
                </a:tc>
              </a:tr>
            </a:tbl>
          </a:graphicData>
        </a:graphic>
      </p:graphicFrame>
      <p:sp>
        <p:nvSpPr>
          <p:cNvPr id="176" name="Google Shape;176;p28"/>
          <p:cNvSpPr/>
          <p:nvPr/>
        </p:nvSpPr>
        <p:spPr>
          <a:xfrm>
            <a:off x="1161288" y="10515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scores</a:t>
            </a:r>
            <a:endParaRPr>
              <a:solidFill>
                <a:srgbClr val="FFFFFF"/>
              </a:solidFill>
            </a:endParaRPr>
          </a:p>
        </p:txBody>
      </p:sp>
      <p:sp>
        <p:nvSpPr>
          <p:cNvPr id="177" name="Google Shape;177;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rgbClr val="FFFFFF"/>
                </a:solidFill>
                <a:latin typeface="Avenir"/>
                <a:ea typeface="Avenir"/>
                <a:cs typeface="Avenir"/>
                <a:sym typeface="Avenir"/>
                <a:hlinkClick r:id="rId4">
                  <a:extLst>
                    <a:ext uri="{A12FA001-AC4F-418D-AE19-62706E023703}">
                      <ahyp:hlinkClr val="tx"/>
                    </a:ext>
                  </a:extLst>
                </a:hlinkClick>
              </a:rPr>
              <a:t>block/review on GitHub · 21 of 25 test PRs</a:t>
            </a:r>
            <a:endParaRPr>
              <a:solidFill>
                <a:srgbClr val="FFFFF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