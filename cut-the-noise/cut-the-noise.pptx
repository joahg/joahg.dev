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12AFF08-97B6-47B2-8C51-BBD501624DD6}">
  <a:tblStyle styleId="{C12AFF08-97B6-47B2-8C51-BBD501624DD6}"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0.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jp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0.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2.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7.png"/><Relationship Id="rId5" Type="http://schemas.openxmlformats.org/officeDocument/2006/relationships/hyperlink" Target="https://joahg.dev/cut-the-noise" TargetMode="External"/><Relationship Id="rId6"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647959" y="5347471"/>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725104" y="6086596"/>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215960" y="6077453"/>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676206" y="6077453"/>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136451" y="6120121"/>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596690" y="6068308"/>
            <a:ext cx="274319" cy="274321"/>
          </a:xfrm>
          <a:prstGeom prst="rect">
            <a:avLst/>
          </a:prstGeom>
          <a:noFill/>
          <a:ln>
            <a:noFill/>
          </a:ln>
        </p:spPr>
      </p:pic>
      <p:sp>
        <p:nvSpPr>
          <p:cNvPr id="48" name="Google Shape;48;p10"/>
          <p:cNvSpPr txBox="1"/>
          <p:nvPr/>
        </p:nvSpPr>
        <p:spPr>
          <a:xfrm>
            <a:off x="9040000" y="6380059"/>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final-v75.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p:cNvPicPr preferRelativeResize="0"/>
          <p:nvPr/>
        </p:nvPicPr>
        <p:blipFill rotWithShape="1">
          <a:blip r:embed="rId3">
            <a:alphaModFix/>
          </a:blip>
          <a:srcRect b="7400" l="0" r="0" t="0"/>
          <a:stretch/>
        </p:blipFill>
        <p:spPr>
          <a:xfrm>
            <a:off x="2372545" y="1703799"/>
            <a:ext cx="7434499" cy="3872392"/>
          </a:xfrm>
          <a:prstGeom prst="rect">
            <a:avLst/>
          </a:prstGeom>
          <a:noFill/>
          <a:ln>
            <a:noFill/>
          </a:ln>
        </p:spPr>
      </p:pic>
      <p:pic>
        <p:nvPicPr>
          <p:cNvPr id="145" name="Google Shape;145;p24"/>
          <p:cNvPicPr preferRelativeResize="0"/>
          <p:nvPr/>
        </p:nvPicPr>
        <p:blipFill rotWithShape="1">
          <a:blip r:embed="rId4">
            <a:alphaModFix/>
          </a:blip>
          <a:srcRect b="0" l="0" r="0" t="0"/>
          <a:stretch/>
        </p:blipFill>
        <p:spPr>
          <a:xfrm>
            <a:off x="2070327" y="909462"/>
            <a:ext cx="8051344" cy="5039075"/>
          </a:xfrm>
          <a:prstGeom prst="rect">
            <a:avLst/>
          </a:prstGeom>
          <a:noFill/>
          <a:ln>
            <a:noFill/>
          </a:ln>
        </p:spPr>
      </p:pic>
      <p:sp>
        <p:nvSpPr>
          <p:cNvPr id="146" name="Google Shape;146;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graphicFrame>
        <p:nvGraphicFramePr>
          <p:cNvPr id="175" name="Google Shape;175;p28"/>
          <p:cNvGraphicFramePr/>
          <p:nvPr/>
        </p:nvGraphicFramePr>
        <p:xfrm>
          <a:off x="3619500" y="2375788"/>
          <a:ext cx="3000000" cy="3000000"/>
        </p:xfrm>
        <a:graphic>
          <a:graphicData uri="http://schemas.openxmlformats.org/drawingml/2006/table">
            <a:tbl>
              <a:tblPr>
                <a:noFill/>
                <a:tableStyleId>{C12AFF08-97B6-47B2-8C51-BBD501624DD6}</a:tableStyleId>
              </a:tblPr>
              <a:tblGrid>
                <a:gridCol w="340000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block/review, all findings</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91.5%</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44.4%</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59.8%</a:t>
                      </a:r>
                      <a:endParaRPr/>
                    </a:p>
                  </a:txBody>
                  <a:tcPr marT="114300" marB="95250" marR="76200" marL="114300">
                    <a:solidFill>
                      <a:srgbClr val="FFFFFF"/>
                    </a:solidFill>
                  </a:tcPr>
                </a:tc>
              </a:tr>
              <a:tr h="678650">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block/review, high confidence</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96.6%</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21.9%</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35.7%</a:t>
                      </a:r>
                      <a:endParaRPr sz="1575">
                        <a:solidFill>
                          <a:srgbClr val="182C36"/>
                        </a:solidFill>
                        <a:latin typeface="Avenir"/>
                        <a:ea typeface="Avenir"/>
                        <a:cs typeface="Avenir"/>
                        <a:sym typeface="Aveni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 Review</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76" name="Google Shape;176;p28"/>
          <p:cNvSpPr/>
          <p:nvPr/>
        </p:nvSpPr>
        <p:spPr>
          <a:xfrm>
            <a:off x="3667125" y="1756663"/>
            <a:ext cx="48579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111111"/>
                </a:solidFill>
                <a:latin typeface="Short Stack"/>
                <a:ea typeface="Short Stack"/>
                <a:cs typeface="Short Stack"/>
                <a:sym typeface="Short Stack"/>
              </a:rPr>
              <a:t>Grounded scores</a:t>
            </a:r>
            <a:endParaRPr/>
          </a:p>
        </p:txBody>
      </p:sp>
      <p:sp>
        <p:nvSpPr>
          <p:cNvPr id="177" name="Google Shape;177;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on GitHub · 21 of 25 test PRs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Prioritize precision</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over recall</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Give your agents</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the big picture</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Build alignment</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before the code is written</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