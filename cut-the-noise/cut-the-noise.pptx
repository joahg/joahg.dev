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11.xml"/>
  <Override ContentType="application/vnd.openxmlformats-officedocument.presentationml.comments+xml" PartName="/ppt/comments/comment2.xml"/>
  <Override ContentType="application/vnd.openxmlformats-officedocument.presentationml.comments+xml" PartName="/ppt/comments/comment10.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comments+xml" PartName="/ppt/comments/comment1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y="6858000" cx="12192000"/>
  <p:notesSz cx="6858000" cy="9144000"/>
  <p:embeddedFontLst>
    <p:embeddedFont>
      <p:font typeface="Short Stack"/>
      <p:regular r:id="rId3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2" name="Ethan Schlenker"/>
  <p:cmAuthor clrIdx="1" id="1" initials="" lastIdx="2" name="Joah Gerstenber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FA5C53A-62A4-488F-9215-44A30D4286DE}">
  <a:tblStyle styleId="{5FA5C53A-62A4-488F-9215-44A30D4286DE}"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font" Target="fonts/ShortStack-regular.fntdata"/><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4T22:55:45.579">
    <p:pos x="6000" y="0"/>
    <p:text>if you want a blank screen behind you, use a black slide</p:text>
  </p:cm>
  <p:cm authorId="1" idx="1" dt="2026-10-14T22:55:45.579">
    <p:pos x="6000" y="0"/>
    <p:text>oooooooh smart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4T21:25:28.512">
    <p:pos x="0" y="0"/>
    <p:text>need to put the "account disabled" on angie's handle &gt;:)</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14T22:56:42.663">
    <p:pos x="0" y="348"/>
    <p:text>the imagery here is a little, uh, cooked? Fried?  What do the kids say when something feels close but off? the coffee-&gt;money-&gt;coffee felt like an odd way to describe double charging</p:text>
  </p:cm>
  <p:cm authorId="1" idx="2" dt="2026-10-14T22:56:42.663">
    <p:pos x="0" y="348"/>
    <p:text>hahaha the intention here was to show the _good_ state - not double charging. I'll see if I can clean it up a little</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14T21:10:08.939">
    <p:pos x="540" y="600"/>
    <p:text>this is the slid I've been thinking about the most.
These aren't terms I understand, and while the speaker notes help, some things:
- basic examples would be nice as a way to understand what kind of work they are to create
- Your other slides have nice pictures that describe the ideas, this one could use that same thing (maybe even break it into different slides)
- the layout made me want to read this as a 2x2, but its really different things getting measured in different ways, likely in a loop? (eg, new model, first offline evals, then online evals.</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10-14T21:12:24.133">
    <p:pos x="0" y="0"/>
    <p:text>related to the note on the previous slide, this image made me think that recall isn't important? then why do it?  
I think the words themselves are tricky to me, a new learner of these things</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10-14T21:13:34.733">
    <p:pos x="6000" y="0"/>
    <p:text>be nice to add some milestones about changes made along the way (eg, new model, prompt change, here's when we added the specialists, etc)</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7" dt="2026-10-14T21:28:58.011">
    <p:pos x="6000" y="0"/>
    <p:text>you kow this from your AI office hours, but this is when people will get lost thinking it's hard when it's kinda not. Maybe stress something like, this isn't too tricky, the repo is only ~300 meaningful lines of Go that does the handing off etc etc.
maybe? i got light gas town vibes here, but maybe that's just me</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10-14T21:15:01.678">
    <p:pos x="6000" y="0"/>
    <p:text>give me a chart or something more compelling here! You won the whole thing! that's cool!</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9" dt="2026-10-14T21:15:33.001">
    <p:pos x="6000" y="0"/>
    <p:text>how do you determine riskiness?</p:text>
  </p:cm>
</p:cmLst>
</file>

<file path=ppt/comments/comment10.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0" dt="2026-10-14T21:16:37.562">
    <p:pos x="6000" y="0"/>
    <p:text>not sure this needs it's own slide? I like the next slide about "here's where the creative work is now"</p:text>
  </p:cm>
</p:cmLst>
</file>

<file path=ppt/comments/comment1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1" dt="2026-10-14T21:20:59.604">
    <p:pos x="6000" y="0"/>
    <p:text>I like the shift left mindset here. one of the things that makes code review weird these days is the SDLC has been very human gated before, but now we can do a lot of testing and stuff beforehand that'd have been way too much for a person.
there's the old idea of shaping our your code in comments first, but LLMs let us have that be actual code that can be verified while we're still shaping things rather than at the end when it's all baked</p:text>
  </p:cm>
</p:cmLst>
</file>

<file path=ppt/comments/comment1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2" dt="2026-10-14T21:21:46.559">
    <p:pos x="6000" y="0"/>
    <p:text>I like this slide a lot as an ending</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solidFill>
                <a:schemeClr val="dk1"/>
              </a:solidFill>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we had coworkers running scripts that deleted all the reviewer’s comments because they were so bad. But as soon as we saw GPT 5 1’s Swee Bench scores, we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 name="Shape 38"/>
        <p:cNvGrpSpPr/>
        <p:nvPr/>
      </p:nvGrpSpPr>
      <p:grpSpPr>
        <a:xfrm>
          <a:off x="0" y="0"/>
          <a:ext cx="0" cy="0"/>
          <a:chOff x="0" y="0"/>
          <a:chExt cx="0" cy="0"/>
        </a:xfrm>
      </p:grpSpPr>
      <p:sp>
        <p:nvSpPr>
          <p:cNvPr id="39" name="Google Shape;3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 name="Google Shape;4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verify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infuse verification intelligence in the same way that we have infused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I’ve learned this year while building a reviewer that we actually trust. Hopefully that’s the talk you’re here to see :) </a:t>
            </a:r>
            <a:endParaRPr/>
          </a:p>
        </p:txBody>
      </p:sp>
      <p:sp>
        <p:nvSpPr>
          <p:cNvPr id="41" name="Google Shape;41;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 name="Google Shape;4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your authentication.)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48" name="Google Shape;48;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 name="Google Shape;5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had increased, and now review was the new rate limit. </a:t>
            </a:r>
            <a:endParaRPr/>
          </a:p>
        </p:txBody>
      </p:sp>
      <p:sp>
        <p:nvSpPr>
          <p:cNvPr id="54" name="Google Shape;54;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 name="Google Shape;59;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Compared to a year ago, the typical reviewer at Block is reviewing about three times as many lines of code. whether we like it or not, we are each delegating trust to the agents writing and reviewing code alongside us.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bigger picture than this prompt?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t/>
            </a:r>
            <a:endParaRPr/>
          </a:p>
        </p:txBody>
      </p:sp>
      <p:sp>
        <p:nvSpPr>
          <p:cNvPr id="60" name="Google Shape;60;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 name="Google Shape;65;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espresso.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66" name="Google Shape;66;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1" name="Google Shape;71;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Building with taste and staying closely in touch with your customers is now more critical than ever.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2" name="Google Shape;72;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7" name="Google Shape;77;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starting place </a:t>
            </a:r>
            <a:r>
              <a:rPr lang="en-US"/>
              <a:t>for measuring an agent’s performance is simply by comparing its behavior against an answer key written by humans</a:t>
            </a:r>
            <a:r>
              <a:rPr lang="en-US"/>
              <a:t>. For our own tests, we’ve collected hundreds </a:t>
            </a:r>
            <a:r>
              <a:rPr lang="en-US"/>
              <a:t>of code reviews from subject matter experts to measure our reviewer’s performance against. This is a great way to ensure we’re building a reviewer that is capable of catching the issues that humans have found, but the reality is that the models operate on an entirely different level, and their findings will far surpass what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I have learned along the way is how important it is to treat inputs as inputs and outputs as outputs. The comments that we leave as human reviewers are an output of our “trace of thought” that we usually omit from the text we put into GitHub - human reviews are a good measuring stick to tell you how much you can trust a reviewer compared to a human, but using imperfect reviews to steer a model usually just makes it worse and more noisy.</a:t>
            </a:r>
            <a:endParaRPr/>
          </a:p>
        </p:txBody>
      </p:sp>
      <p:sp>
        <p:nvSpPr>
          <p:cNvPr id="78" name="Google Shape;78;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 name="Google Shape;85;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actually spent a long time going down this path, and built a whole agentic pipeline to read and learn from past human reviews. We thought it was working well until one day in April, we fixed a bug that was preventing our reviewer from sharing all of the things it had learned from past human reviews, and it got really noisy really </a:t>
            </a:r>
            <a:r>
              <a:rPr lang="en-US"/>
              <a:t>quickly.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Don’t make the same mistake as us - this prompted us to shut down the reviewer and rebuild it again from scratch. </a:t>
            </a:r>
            <a:endParaRPr/>
          </a:p>
        </p:txBody>
      </p:sp>
      <p:sp>
        <p:nvSpPr>
          <p:cNvPr id="86" name="Google Shape;86;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 name="Google Shape;92;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We had learned how important setting a very high bar for precision is, instead of focusing on maximizing for recall.</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A couple weeks later, two engineers at DoorDash shared that they had found the same thing - they had also rebuilt their reviewer to prioritize minimizing false positives instead of focusing on minimizing false negatives. Like them, we saw how critical it was to invest in this piece of our infrastructure, and we were learning again how easy it was to get muted if we didn’t keep a high bar for human attention.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Later in the summer, Figma’s engineers shared that they were setting a minimum bar for their reviewer’s precision. They weren’t letting their reviewer post anything until they could prove that it was right at least 70% of the time.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t/>
            </a:r>
            <a:endParaRPr/>
          </a:p>
        </p:txBody>
      </p:sp>
      <p:sp>
        <p:nvSpPr>
          <p:cNvPr id="93" name="Google Shape;93;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0" name="Google Shape;100;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let’s quickly define some terms. If you want to evaluate the performance of an agentic system, you </a:t>
            </a:r>
            <a:r>
              <a:rPr lang="en-US"/>
              <a:t>should aim to measure its performance OFFline before you bring it ONline. Offline evaluations are those tests I was referring to a bit ago - they let you measure an agent’s performance against an answer key of human-labeled data. Once you have confidence in its behavior, you are ready to take it online and begin monitoring how it performs live.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 system’s precision allows you to measure true positives - what percentage of its findings are legitimate, and how many are just noise?</a:t>
            </a:r>
            <a:endParaRPr/>
          </a:p>
          <a:p>
            <a:pPr indent="0" lvl="0" marL="0" rtl="0" algn="l">
              <a:spcBef>
                <a:spcPts val="0"/>
              </a:spcBef>
              <a:spcAft>
                <a:spcPts val="0"/>
              </a:spcAft>
              <a:buNone/>
            </a:pPr>
            <a:r>
              <a:rPr lang="en-US"/>
              <a:t>Likewise, recall allows you to measure true negatives - how many of the real vulnerabilities did we catch?</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Once a reviewer is running in production, you can begin measuring how many of its findings are actually accepted by humans, and monitoring how often a recommended change needs to be reverted.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Evals like these need to lead the conversation when building agentic systems. If you aren’t able to prove that your agents are doing what you expect them to be doing, you have missed a step in your design. </a:t>
            </a:r>
            <a:endParaRPr/>
          </a:p>
        </p:txBody>
      </p:sp>
      <p:sp>
        <p:nvSpPr>
          <p:cNvPr id="101" name="Google Shape;101;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5" name="Google Shape;115;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What we had been learning, alongside many others in our industry, was how important it was to build a system that cut the noise, and ensure that our review was staying quiet when it had nothing to say. It turns out OpenAI had written about this months before we got here on their alignment blog - if you want to build a code reviewer that is usable, optimizing for precision is far more important than optimizing for recall. We have to refuse the urge to try and catch everything, and instead accept that some low severity issues will make it to production.</a:t>
            </a:r>
            <a:endParaRPr/>
          </a:p>
        </p:txBody>
      </p:sp>
      <p:sp>
        <p:nvSpPr>
          <p:cNvPr id="116" name="Google Shape;116;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3" name="Google Shape;12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Once we started optimizing our reviewer to cut the noise and minimize false positives, we pretty quickly started seeing an increase in the number of comments that were taken seriously by humans. As soon as our engineers knew they could trust the </a:t>
            </a:r>
            <a:r>
              <a:rPr lang="en-US"/>
              <a:t>reviewer</a:t>
            </a:r>
            <a:r>
              <a:rPr lang="en-US"/>
              <a:t> to find real issues, it had earned enough trust to actually pay attention to. Over time, we saw the number of findings accepted and implemented by humans steadily growing.</a:t>
            </a:r>
            <a:endParaRPr/>
          </a:p>
        </p:txBody>
      </p:sp>
      <p:sp>
        <p:nvSpPr>
          <p:cNvPr id="124" name="Google Shape;124;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 name="Google Shape;131;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weeks ago, some engineers at GitHub launched a new open code review benchmark called reviewbench, where we can all begin openly competing to see who can build the reviewer that can best optimize precision and recall. At the time of launch, GitHub’s own code reviewer was on top of the leaderboard, with 87.8% precision and 26% recall. Take that in: the best AI code reviewer you can buy right now is saying it will miss 74% of the vulnerabilities and bugs in a code change. Surely we can do better than that! With highscores starting this low, this area has a ton of potential for growth looking into the future.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Even before </a:t>
            </a:r>
            <a:r>
              <a:rPr lang="en-US"/>
              <a:t>reviewbench</a:t>
            </a:r>
            <a:r>
              <a:rPr lang="en-US"/>
              <a:t> was available, we had spent a lot of time benchmarking our own reviewer against the industry leaders on this list. What we found surprised us:</a:t>
            </a:r>
            <a:endParaRPr/>
          </a:p>
        </p:txBody>
      </p:sp>
      <p:sp>
        <p:nvSpPr>
          <p:cNvPr id="132" name="Google Shape;132;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9" name="Google Shape;139;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each reviewer finding only about a quarter of the bugs, the overlap between what our reviewer caught and what their reviewers caught was shockingly small. Only about one in five of our findings was shared between our results and theirs. All of the rest were unique to the reviewer. What do you do with this, then? Do you just run both reviewers forever and continue stacking them in order to get to 100% recall?</a:t>
            </a:r>
            <a:endParaRPr/>
          </a:p>
        </p:txBody>
      </p:sp>
      <p:sp>
        <p:nvSpPr>
          <p:cNvPr id="140" name="Google Shape;140;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6" name="Google Shape;146;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Basically, yes. We have found that increasing the number of quantity of reviewers and running them with a variety of prompts and models makes a big difference in increasing finding recall. Giving each reviewer a narrow scope of focus allows us to trust that we’re inspecting our code from multiple different perspectives, and using models that were trained on different materials makes it less likely that they’ll all catch the same thing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found that moving from one reviewer to three improved recall by 11 points, </a:t>
            </a:r>
            <a:r>
              <a:rPr lang="en-US"/>
              <a:t>without</a:t>
            </a:r>
            <a:r>
              <a:rPr lang="en-US"/>
              <a:t> sacrificing precision!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47" name="Google Shape;147;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4" name="Google Shape;154;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reviewer agents go wide in their areas reporting up all of their findings and assigning each a confidence level.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have them all report back to a coordinator agent, whose job it is to try to consolidate and </a:t>
            </a:r>
            <a:r>
              <a:rPr lang="en-US"/>
              <a:t>disprove each of the findings before passing them on. We give our coordinator access to read feature flags, other repositories, and even slack to try to disprove the findings that our reviewers bring it. The coordinator hands its findings off to a judge who takes a final look at all of the dropped findings to verify that we didn’t toss out something important. Only the findings that make it through the full chain ever get shown to humans.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Font typeface="Arial"/>
              <a:buNone/>
            </a:pPr>
            <a:r>
              <a:rPr lang="en-US">
                <a:solidFill>
                  <a:schemeClr val="dk1"/>
                </a:solidFill>
              </a:rPr>
              <a:t>After reviewbench launched, we open sourced a modified version of our internal code reviewer to our GitHub. it follows this exact architecture using goose, Opus 5 5 and Sol 6 1, and beat out the copilot reviewer:</a:t>
            </a:r>
            <a:endParaRPr/>
          </a:p>
        </p:txBody>
      </p:sp>
      <p:sp>
        <p:nvSpPr>
          <p:cNvPr id="155" name="Google Shape;155;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h1ac9e725b6f63ca8_2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2" name="Google Shape;162;h1ac9e725b6f63ca8_2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reviewer is running 6 review agents - 3 opus and 3 sol, filtered through a couple opus agents for precision. We got an 11% boost in recall for having more reviewers looking for findings, but when we put this in production, we found that people really still don’t like a reviewer that finds more issues as long as one in ten findings is still incorrect.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though review bench doesn’t share these numbers, what’s actually more interesting than total precision and recall filtering these down to only high- and medium- severity issues. For our reviewer, going from one to six reviewers </a:t>
            </a:r>
            <a:r>
              <a:rPr lang="en-US"/>
              <a:t>increased high-severity issue recall by 18 points, from 32% to 50%</a:t>
            </a:r>
            <a:r>
              <a:rPr lang="en-US"/>
              <a: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other data that isn’t shown on reviewbench today is cost. Getting reviews with precision and recall this high requires running multiple huge models in sequence - this is simply just not a scalable model for most businesses.</a:t>
            </a:r>
            <a:endParaRPr/>
          </a:p>
          <a:p>
            <a:pPr indent="0" lvl="0" marL="0" rtl="0" algn="l">
              <a:spcBef>
                <a:spcPts val="0"/>
              </a:spcBef>
              <a:spcAft>
                <a:spcPts val="0"/>
              </a:spcAft>
              <a:buNone/>
            </a:pPr>
            <a:r>
              <a:t/>
            </a:r>
            <a:endParaRPr/>
          </a:p>
        </p:txBody>
      </p:sp>
      <p:sp>
        <p:nvSpPr>
          <p:cNvPr id="163" name="Google Shape;163;h1ac9e725b6f63ca8_2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0" name="Google Shape;170;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Like DoorDash and Figma, Meta </a:t>
            </a:r>
            <a:r>
              <a:rPr i="1" lang="en-US"/>
              <a:t>also</a:t>
            </a:r>
            <a:r>
              <a:rPr lang="en-US"/>
              <a:t> published a paper on automating code verification this summer. The method that their engineers describe hinges on accurately </a:t>
            </a:r>
            <a:r>
              <a:rPr lang="en-US"/>
              <a:t>measuring</a:t>
            </a:r>
            <a:r>
              <a:rPr lang="en-US"/>
              <a:t> the riskiness of a given change and adjusting the depth of the review to the risk. This is classic machine learning stuff - not another agent. Unlike our LLM reviewers, this model should be optimized for </a:t>
            </a:r>
            <a:r>
              <a:rPr i="1" lang="en-US"/>
              <a:t>recall</a:t>
            </a:r>
            <a:r>
              <a:rPr lang="en-US"/>
              <a:t> instead of precision, and produce a risk score based on the likelihood of the diff causing an issue needing to be fixed in production.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Given the </a:t>
            </a:r>
            <a:r>
              <a:rPr lang="en-US"/>
              <a:t>output of the risk model, different teams within Meta can choose how they will route their code changes - and specify the depth of review they require for a given risk level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makes a lot of sense! </a:t>
            </a:r>
            <a:r>
              <a:rPr lang="en-US"/>
              <a:t>Just like we change the depth of our review when we review a coworker’s code, adding a new test shouldn’t </a:t>
            </a:r>
            <a:r>
              <a:rPr lang="en-US"/>
              <a:t>require </a:t>
            </a:r>
            <a:r>
              <a:rPr lang="en-US"/>
              <a:t>the same review depth as changing our ledgering contract.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have implemented a version of this inside our own agentic review system to identify common risk </a:t>
            </a:r>
            <a:endParaRPr/>
          </a:p>
        </p:txBody>
      </p:sp>
      <p:sp>
        <p:nvSpPr>
          <p:cNvPr id="171" name="Google Shape;171;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8" name="Google Shape;178;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Something else I’ve learned this year is that, no matter how much I push to prove the trustworthiness of our reviewer, for now there are still changes that people want to be able to look at for themselves. Some systems are still so hard to work on and costly to get wrong that reading the code is still the most efficient way to build confidence in an agent’s output.</a:t>
            </a:r>
            <a:endParaRPr/>
          </a:p>
        </p:txBody>
      </p:sp>
      <p:sp>
        <p:nvSpPr>
          <p:cNvPr id="179" name="Google Shape;179;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6" name="Google Shape;186;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 models will continue getting better, and eventually Claude will know how to self-review and never write vulnerabilities to begin with. None of this even worked a year ago, and in a year from now it will all look even more different.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a heavy thing for many like me that have been writing </a:t>
            </a:r>
            <a:r>
              <a:rPr lang="en-US"/>
              <a:t>software</a:t>
            </a:r>
            <a:r>
              <a:rPr lang="en-US"/>
              <a:t> for a long time. It feels awful to hand over all of the puzzles we used to spend our time solving over to models that can solve them in a fraction of the time.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the models get better, what is our job?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then, </a:t>
            </a:r>
            <a:r>
              <a:rPr lang="en-US"/>
              <a:t>if we have our software factory optimized with agentic reviewers tuned based on risk, and we’re only ever looking at the riskiest diffs, how do we get better at our craft? What are the new skills for us to train?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 know engineers that feel hurt by the industry killing the craft of code. </a:t>
            </a:r>
            <a:endParaRPr/>
          </a:p>
        </p:txBody>
      </p:sp>
      <p:sp>
        <p:nvSpPr>
          <p:cNvPr id="187" name="Google Shape;187;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 name="Google Shape;192;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The theme I already see repeating is the importance of building alignment and containment for our agentic systems.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dk1"/>
                </a:solidFill>
              </a:rPr>
              <a:t>Our agents are able to align with our goals once we have given them enough context to see the picture of where we’re going. Making the goals of your business legible to your agents enables them to see when things are going off track. </a:t>
            </a:r>
            <a:endParaRPr>
              <a:solidFill>
                <a:schemeClr val="dk1"/>
              </a:solidFill>
            </a:endParaRPr>
          </a:p>
          <a:p>
            <a:pPr indent="0" lvl="0" marL="0" rtl="0" algn="l">
              <a:spcBef>
                <a:spcPts val="0"/>
              </a:spcBef>
              <a:spcAft>
                <a:spcPts val="0"/>
              </a:spcAft>
              <a:buClr>
                <a:schemeClr val="dk1"/>
              </a:buClr>
              <a:buFont typeface="Arial"/>
              <a:buNone/>
            </a:pPr>
            <a:br>
              <a:rPr lang="en-US">
                <a:solidFill>
                  <a:schemeClr val="dk1"/>
                </a:solidFill>
              </a:rPr>
            </a:br>
            <a:r>
              <a:rPr lang="en-US">
                <a:solidFill>
                  <a:schemeClr val="dk1"/>
                </a:solidFill>
              </a:rPr>
              <a:t>This includes giving your agents access to systems like your team messages, issue tracker, and experimentation service. Your reviewers should be capable of referencing context from all of your systems to build an accurate picture of the world before recommending a change.</a:t>
            </a:r>
            <a:endParaRPr>
              <a:solidFill>
                <a:schemeClr val="dk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xx The hugging face hack this summer was a stark reminder of what happens when aligned agents aren’t sufficiently contained from acting in unaligned ways.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Now that agents are writing all of our code, a scalable risk-based agentic review system is now a critical layer of infrastructure for containing the effect of agents on our customer experience. </a:t>
            </a:r>
            <a:endParaRPr/>
          </a:p>
        </p:txBody>
      </p:sp>
      <p:sp>
        <p:nvSpPr>
          <p:cNvPr id="193" name="Google Shape;193;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As agents are able to take on more autonomy in the software development lifecycle, it’s critical that we choose agent-native platforms that bring review into the process before code is written.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what we’re trying with our open source projects like Buzz and CoPlan. Sharing our agent’s sessions and inviting our teammates to participate earlier in the planning process allows our agents to build a more complete view of our systems, and de-risks the changes that get implemented downstream of our alignment.</a:t>
            </a:r>
            <a:endParaRPr/>
          </a:p>
          <a:p>
            <a:pPr indent="0" lvl="0" marL="0" rtl="0" algn="l">
              <a:spcBef>
                <a:spcPts val="0"/>
              </a:spcBef>
              <a:spcAft>
                <a:spcPts val="0"/>
              </a:spcAft>
              <a:buNone/>
            </a:pPr>
            <a:r>
              <a:t/>
            </a:r>
            <a:endParaRPr/>
          </a:p>
        </p:txBody>
      </p:sp>
      <p:sp>
        <p:nvSpPr>
          <p:cNvPr id="200" name="Google Shape;200;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7" name="Google Shape;207;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to summarize, how do we build a reviewer that prioritizes signal over noise, and prove that it’s something we can actually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and most importantly: we have to build our ability to evaluate our reviewer against known good results. If we want to be able to trust it, we need to be able to put numbers on how often our reviewer is giving accurate results (which you measure with precision), and how often it’s missing things (which you can measure by recall). If you want people to pay attention to your reviewer’s findings, you must prioritize precision over recall. No matter how thorough your reviewer is, if a significant amount of findings are bogus or harmful, you’ll quickly lose the attention of your operators.</a:t>
            </a:r>
            <a:endParaRPr/>
          </a:p>
          <a:p>
            <a:pPr indent="0" lvl="0" marL="0" rtl="0" algn="l">
              <a:spcBef>
                <a:spcPts val="0"/>
              </a:spcBef>
              <a:spcAft>
                <a:spcPts val="0"/>
              </a:spcAft>
              <a:buNone/>
            </a:pPr>
            <a:r>
              <a:t/>
            </a:r>
            <a:endParaRPr/>
          </a:p>
        </p:txBody>
      </p:sp>
      <p:sp>
        <p:nvSpPr>
          <p:cNvPr id="208" name="Google Shape;208;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h2a32ca41fb6cd099_10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3" name="Google Shape;213;h2a32ca41fb6cd099_10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Next, as the models improve, our job as builders is shifting from reviewing every line of code to ensuring that we’re providing the appropriate context to align our agents with the big picture of what we’re working to accomplish. Once we’ve made our preferences and goals legible to our agents, they are able to make local decisions more mindfully. Even as the models get better, maintaining an adversarial reviewer that double checks your agents’ output allows you to contain new risks being introduced. </a:t>
            </a:r>
            <a:endParaRPr/>
          </a:p>
        </p:txBody>
      </p:sp>
      <p:sp>
        <p:nvSpPr>
          <p:cNvPr id="214" name="Google Shape;214;h2a32ca41fb6cd099_10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h2a32ca41fb6cd099_10_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9" name="Google Shape;219;h2a32ca41fb6cd099_10_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Finally, as code verification becomes more automated, it’s vital that we we bring more of our coworkers into our agent sessions to build alignment earlier, before the code has been written. Removing ourselves entirely from the software assembly line is the only way we’ll ever be able to see how fast agents can go.</a:t>
            </a:r>
            <a:endParaRPr/>
          </a:p>
        </p:txBody>
      </p:sp>
      <p:sp>
        <p:nvSpPr>
          <p:cNvPr id="220" name="Google Shape;220;h2a32ca41fb6cd099_10_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 am so grateful for the chance to be working alongside so many brilliant engineers at the frontier of our industry. I have learned so much about the way to build agentic systems in production, and none of this would’ve happened without my team and a whole bunch of people eager to work in the open and share what they’re learning.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All of my slides, along with links to each of the projects and papers that I referenced are available on my website. I would be thrilled to discuss this topic at any length if you’d like to find me afterwards or email me.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 appreciate you all for being here - Thank you for your time!</a:t>
            </a:r>
            <a:endParaRPr/>
          </a:p>
          <a:p>
            <a:pPr indent="0" lvl="0" marL="0" rtl="0" algn="l">
              <a:spcBef>
                <a:spcPts val="0"/>
              </a:spcBef>
              <a:spcAft>
                <a:spcPts val="0"/>
              </a:spcAft>
              <a:buNone/>
            </a:pPr>
            <a:r>
              <a:t/>
            </a:r>
            <a:endParaRPr/>
          </a:p>
        </p:txBody>
      </p:sp>
      <p:sp>
        <p:nvSpPr>
          <p:cNvPr id="226" name="Google Shape;226;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omments" Target="../comments/comment2.xml"/><Relationship Id="rId4" Type="http://schemas.openxmlformats.org/officeDocument/2006/relationships/image" Target="../media/image2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omments" Target="../comments/comment3.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hyperlink" Target="https://careersatdoordash.com/blog/doordash-built-an-ai-code-reviewer-engineers-actually-listen-t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comments" Target="../comments/comment5.xml"/><Relationship Id="rId4" Type="http://schemas.openxmlformats.org/officeDocument/2006/relationships/image" Target="../media/image6.png"/><Relationship Id="rId5" Type="http://schemas.openxmlformats.org/officeDocument/2006/relationships/hyperlink" Target="https://alignment.openai.com/scaling-code-verification/"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omments" Target="../comments/comment6.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jp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omments" Target="../comments/comment7.xml"/><Relationship Id="rId4" Type="http://schemas.openxmlformats.org/officeDocument/2006/relationships/image" Target="../media/image16.png"/><Relationship Id="rId5" Type="http://schemas.openxmlformats.org/officeDocument/2006/relationships/hyperlink" Target="https://careersatdoordash.com/blog/doordash-built-an-ai-code-reviewer-engineers-actually-listen-to/" TargetMode="External"/><Relationship Id="rId6" Type="http://schemas.openxmlformats.org/officeDocument/2006/relationships/hyperlink" Target="https://www.figma.com/blog/how-figma-stays-ahead-of-vulnerabilities-with-agents/" TargetMode="External"/><Relationship Id="rId7" Type="http://schemas.openxmlformats.org/officeDocument/2006/relationships/hyperlink" Target="https://careersatdoordash.com/blog/doordash-built-an-ai-code-reviewer-engineers-actually-listen-t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comments" Target="../comments/comment8.xml"/><Relationship Id="rId4" Type="http://schemas.openxmlformats.org/officeDocument/2006/relationships/hyperlink" Target="https://github.com/block/review"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omments" Target="../comments/comment9.xml"/><Relationship Id="rId4" Type="http://schemas.openxmlformats.org/officeDocument/2006/relationships/image" Target="../media/image22.png"/><Relationship Id="rId5" Type="http://schemas.openxmlformats.org/officeDocument/2006/relationships/hyperlink" Target="https://arxiv.org/html/2605.30208v1"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comments" Target="../comments/comment10.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omments" Target="../comments/comment11.xml"/><Relationship Id="rId4" Type="http://schemas.openxmlformats.org/officeDocument/2006/relationships/image" Target="../media/image23.png"/><Relationship Id="rId5" Type="http://schemas.openxmlformats.org/officeDocument/2006/relationships/hyperlink" Target="https://buzz.xyz/" TargetMode="External"/><Relationship Id="rId6" Type="http://schemas.openxmlformats.org/officeDocument/2006/relationships/hyperlink" Target="https://github.com/block/coplan" TargetMode="External"/><Relationship Id="rId7" Type="http://schemas.openxmlformats.org/officeDocument/2006/relationships/hyperlink" Target="https://github.com/block/coplan"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comments" Target="../comments/comment12.xml"/><Relationship Id="rId4" Type="http://schemas.openxmlformats.org/officeDocument/2006/relationships/image" Target="../media/image24.png"/><Relationship Id="rId5" Type="http://schemas.openxmlformats.org/officeDocument/2006/relationships/hyperlink" Target="https://joahg.dev/cut-the-noise" TargetMode="External"/><Relationship Id="rId6"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 name="Shape 35"/>
        <p:cNvGrpSpPr/>
        <p:nvPr/>
      </p:nvGrpSpPr>
      <p:grpSpPr>
        <a:xfrm>
          <a:off x="0" y="0"/>
          <a:ext cx="0" cy="0"/>
          <a:chOff x="0" y="0"/>
          <a:chExt cx="0" cy="0"/>
        </a:xfrm>
      </p:grpSpPr>
      <p:pic>
        <p:nvPicPr>
          <p:cNvPr id="36" name="Google Shape;36;p9" title="slide-01.png"/>
          <p:cNvPicPr preferRelativeResize="0"/>
          <p:nvPr/>
        </p:nvPicPr>
        <p:blipFill rotWithShape="1">
          <a:blip r:embed="rId4">
            <a:alphaModFix/>
          </a:blip>
          <a:srcRect b="2803" l="0" r="0" t="2803"/>
          <a:stretch/>
        </p:blipFill>
        <p:spPr>
          <a:xfrm>
            <a:off x="0" y="0"/>
            <a:ext cx="12191998" cy="6476999"/>
          </a:xfrm>
          <a:prstGeom prst="rect">
            <a:avLst/>
          </a:prstGeom>
          <a:noFill/>
          <a:ln>
            <a:noFill/>
          </a:ln>
        </p:spPr>
      </p:pic>
      <p:sp>
        <p:nvSpPr>
          <p:cNvPr id="37" name="Google Shape;37;p9"/>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 name="Shape 42"/>
        <p:cNvGrpSpPr/>
        <p:nvPr/>
      </p:nvGrpSpPr>
      <p:grpSpPr>
        <a:xfrm>
          <a:off x="0" y="0"/>
          <a:ext cx="0" cy="0"/>
          <a:chOff x="0" y="0"/>
          <a:chExt cx="0" cy="0"/>
        </a:xfrm>
      </p:grpSpPr>
      <p:pic>
        <p:nvPicPr>
          <p:cNvPr id="43" name="Google Shape;43;p10"/>
          <p:cNvPicPr preferRelativeResize="0"/>
          <p:nvPr/>
        </p:nvPicPr>
        <p:blipFill rotWithShape="1">
          <a:blip r:embed="rId3">
            <a:alphaModFix/>
          </a:blip>
          <a:srcRect b="0" l="0" r="0" t="0"/>
          <a:stretch/>
        </p:blipFill>
        <p:spPr>
          <a:xfrm>
            <a:off x="3239" y="0"/>
            <a:ext cx="12185522" cy="6858000"/>
          </a:xfrm>
          <a:prstGeom prst="rect">
            <a:avLst/>
          </a:prstGeom>
          <a:noFill/>
          <a:ln>
            <a:noFill/>
          </a:ln>
        </p:spPr>
      </p:pic>
      <p:sp>
        <p:nvSpPr>
          <p:cNvPr id="44" name="Google Shape;44;p10"/>
          <p:cNvSpPr/>
          <p:nvPr/>
        </p:nvSpPr>
        <p:spPr>
          <a:xfrm>
            <a:off x="6667500" y="6381750"/>
            <a:ext cx="5048250" cy="3619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125">
                <a:solidFill>
                  <a:srgbClr val="555555"/>
                </a:solidFill>
                <a:latin typeface="Avenir"/>
                <a:ea typeface="Avenir"/>
                <a:cs typeface="Avenir"/>
                <a:sym typeface="Avenir"/>
              </a:rPr>
              <a:t>Presented by Joah Gerstenberg</a:t>
            </a:r>
            <a:endParaRPr/>
          </a:p>
          <a:p>
            <a:pPr indent="0" lvl="0" marL="0" marR="0" rtl="0" algn="r">
              <a:spcBef>
                <a:spcPts val="0"/>
              </a:spcBef>
              <a:spcAft>
                <a:spcPts val="0"/>
              </a:spcAft>
              <a:buNone/>
            </a:pPr>
            <a:r>
              <a:rPr b="0" i="0" lang="en-US" sz="1125">
                <a:solidFill>
                  <a:srgbClr val="555555"/>
                </a:solidFill>
                <a:latin typeface="Avenir"/>
                <a:ea typeface="Avenir"/>
                <a:cs typeface="Avenir"/>
                <a:sym typeface="Avenir"/>
              </a:rPr>
              <a:t>AGNTCon · San Jose · October 2026</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 name="Shape 49"/>
        <p:cNvGrpSpPr/>
        <p:nvPr/>
      </p:nvGrpSpPr>
      <p:grpSpPr>
        <a:xfrm>
          <a:off x="0" y="0"/>
          <a:ext cx="0" cy="0"/>
          <a:chOff x="0" y="0"/>
          <a:chExt cx="0" cy="0"/>
        </a:xfrm>
      </p:grpSpPr>
      <p:pic>
        <p:nvPicPr>
          <p:cNvPr id="50" name="Google Shape;50;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 name="Shape 55"/>
        <p:cNvGrpSpPr/>
        <p:nvPr/>
      </p:nvGrpSpPr>
      <p:grpSpPr>
        <a:xfrm>
          <a:off x="0" y="0"/>
          <a:ext cx="0" cy="0"/>
          <a:chOff x="0" y="0"/>
          <a:chExt cx="0" cy="0"/>
        </a:xfrm>
      </p:grpSpPr>
      <p:pic>
        <p:nvPicPr>
          <p:cNvPr id="56" name="Google Shape;56;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 name="Shape 61"/>
        <p:cNvGrpSpPr/>
        <p:nvPr/>
      </p:nvGrpSpPr>
      <p:grpSpPr>
        <a:xfrm>
          <a:off x="0" y="0"/>
          <a:ext cx="0" cy="0"/>
          <a:chOff x="0" y="0"/>
          <a:chExt cx="0" cy="0"/>
        </a:xfrm>
      </p:grpSpPr>
      <p:pic>
        <p:nvPicPr>
          <p:cNvPr id="62" name="Google Shape;62;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pic>
        <p:nvPicPr>
          <p:cNvPr id="68" name="Google Shape;68;p14" title="slide-08-art.png"/>
          <p:cNvPicPr preferRelativeResize="0"/>
          <p:nvPr/>
        </p:nvPicPr>
        <p:blipFill rotWithShape="1">
          <a:blip r:embed="rId4">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 name="Shape 73"/>
        <p:cNvGrpSpPr/>
        <p:nvPr/>
      </p:nvGrpSpPr>
      <p:grpSpPr>
        <a:xfrm>
          <a:off x="0" y="0"/>
          <a:ext cx="0" cy="0"/>
          <a:chOff x="0" y="0"/>
          <a:chExt cx="0" cy="0"/>
        </a:xfrm>
      </p:grpSpPr>
      <p:pic>
        <p:nvPicPr>
          <p:cNvPr id="74" name="Google Shape;74;p15"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 name="Shape 79"/>
        <p:cNvGrpSpPr/>
        <p:nvPr/>
      </p:nvGrpSpPr>
      <p:grpSpPr>
        <a:xfrm>
          <a:off x="0" y="0"/>
          <a:ext cx="0" cy="0"/>
          <a:chOff x="0" y="0"/>
          <a:chExt cx="0" cy="0"/>
        </a:xfrm>
      </p:grpSpPr>
      <p:pic>
        <p:nvPicPr>
          <p:cNvPr id="80" name="Google Shape;80;p16"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1" name="Google Shape;81;p16"/>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2" name="Google Shape;82;p1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 name="Shape 87"/>
        <p:cNvGrpSpPr/>
        <p:nvPr/>
      </p:nvGrpSpPr>
      <p:grpSpPr>
        <a:xfrm>
          <a:off x="0" y="0"/>
          <a:ext cx="0" cy="0"/>
          <a:chOff x="0" y="0"/>
          <a:chExt cx="0" cy="0"/>
        </a:xfrm>
      </p:grpSpPr>
      <p:pic>
        <p:nvPicPr>
          <p:cNvPr id="88" name="Google Shape;88;p17"/>
          <p:cNvPicPr preferRelativeResize="0"/>
          <p:nvPr/>
        </p:nvPicPr>
        <p:blipFill rotWithShape="1">
          <a:blip r:embed="rId3">
            <a:alphaModFix/>
          </a:blip>
          <a:srcRect b="14485" l="1813" r="2758" t="11083"/>
          <a:stretch/>
        </p:blipFill>
        <p:spPr>
          <a:xfrm>
            <a:off x="2122650" y="897839"/>
            <a:ext cx="7946700" cy="4395571"/>
          </a:xfrm>
          <a:prstGeom prst="rect">
            <a:avLst/>
          </a:prstGeom>
          <a:noFill/>
          <a:ln>
            <a:noFill/>
          </a:ln>
        </p:spPr>
      </p:pic>
      <p:sp>
        <p:nvSpPr>
          <p:cNvPr id="89" name="Google Shape;89;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 name="Shape 94"/>
        <p:cNvGrpSpPr/>
        <p:nvPr/>
      </p:nvGrpSpPr>
      <p:grpSpPr>
        <a:xfrm>
          <a:off x="0" y="0"/>
          <a:ext cx="0" cy="0"/>
          <a:chOff x="0" y="0"/>
          <a:chExt cx="0" cy="0"/>
        </a:xfrm>
      </p:grpSpPr>
      <p:pic>
        <p:nvPicPr>
          <p:cNvPr id="95" name="Google Shape;95;p18"/>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96" name="Google Shape;96;p18"/>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97" name="Google Shape;97;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 name="Shape 102"/>
        <p:cNvGrpSpPr/>
        <p:nvPr/>
      </p:nvGrpSpPr>
      <p:grpSpPr>
        <a:xfrm>
          <a:off x="0" y="0"/>
          <a:ext cx="0" cy="0"/>
          <a:chOff x="0" y="0"/>
          <a:chExt cx="0" cy="0"/>
        </a:xfrm>
      </p:grpSpPr>
      <p:sp>
        <p:nvSpPr>
          <p:cNvPr id="103" name="Google Shape;103;p19"/>
          <p:cNvSpPr/>
          <p:nvPr/>
        </p:nvSpPr>
        <p:spPr>
          <a:xfrm>
            <a:off x="857250" y="952500"/>
            <a:ext cx="48577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850">
                <a:solidFill>
                  <a:srgbClr val="111111"/>
                </a:solidFill>
                <a:latin typeface="Short Stack"/>
                <a:ea typeface="Short Stack"/>
                <a:cs typeface="Short Stack"/>
                <a:sym typeface="Short Stack"/>
              </a:rPr>
              <a:t>OFFLINE</a:t>
            </a:r>
            <a:r>
              <a:rPr b="0" i="0" lang="en-US" sz="2850">
                <a:solidFill>
                  <a:srgbClr val="111111"/>
                </a:solidFill>
                <a:latin typeface="Short Stack"/>
                <a:ea typeface="Short Stack"/>
                <a:cs typeface="Short Stack"/>
                <a:sym typeface="Short Stack"/>
              </a:rPr>
              <a:t> EVALS</a:t>
            </a:r>
            <a:endParaRPr/>
          </a:p>
        </p:txBody>
      </p:sp>
      <p:sp>
        <p:nvSpPr>
          <p:cNvPr id="104" name="Google Shape;104;p19"/>
          <p:cNvSpPr/>
          <p:nvPr/>
        </p:nvSpPr>
        <p:spPr>
          <a:xfrm>
            <a:off x="857250" y="2381250"/>
            <a:ext cx="4857750"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Precision</a:t>
            </a:r>
            <a:endParaRPr/>
          </a:p>
        </p:txBody>
      </p:sp>
      <p:sp>
        <p:nvSpPr>
          <p:cNvPr id="105" name="Google Shape;105;p19"/>
          <p:cNvSpPr/>
          <p:nvPr/>
        </p:nvSpPr>
        <p:spPr>
          <a:xfrm>
            <a:off x="857250" y="3095625"/>
            <a:ext cx="4857750" cy="714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25">
                <a:solidFill>
                  <a:srgbClr val="182C36"/>
                </a:solidFill>
                <a:latin typeface="Avenir"/>
                <a:ea typeface="Avenir"/>
                <a:cs typeface="Avenir"/>
                <a:sym typeface="Avenir"/>
              </a:rPr>
              <a:t>Valid findings / all findings</a:t>
            </a:r>
            <a:endParaRPr/>
          </a:p>
        </p:txBody>
      </p:sp>
      <p:sp>
        <p:nvSpPr>
          <p:cNvPr id="106" name="Google Shape;106;p19"/>
          <p:cNvSpPr/>
          <p:nvPr/>
        </p:nvSpPr>
        <p:spPr>
          <a:xfrm>
            <a:off x="857250" y="4524375"/>
            <a:ext cx="4857750"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Recall</a:t>
            </a:r>
            <a:endParaRPr/>
          </a:p>
        </p:txBody>
      </p:sp>
      <p:sp>
        <p:nvSpPr>
          <p:cNvPr id="107" name="Google Shape;107;p19"/>
          <p:cNvSpPr/>
          <p:nvPr/>
        </p:nvSpPr>
        <p:spPr>
          <a:xfrm>
            <a:off x="857250" y="5143500"/>
            <a:ext cx="4857750" cy="809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950">
                <a:solidFill>
                  <a:srgbClr val="182C36"/>
                </a:solidFill>
                <a:latin typeface="Avenir"/>
                <a:ea typeface="Avenir"/>
                <a:cs typeface="Avenir"/>
                <a:sym typeface="Avenir"/>
              </a:rPr>
              <a:t>Known defects found / all known defects</a:t>
            </a:r>
            <a:endParaRPr/>
          </a:p>
        </p:txBody>
      </p:sp>
      <p:sp>
        <p:nvSpPr>
          <p:cNvPr id="108" name="Google Shape;108;p19"/>
          <p:cNvSpPr/>
          <p:nvPr/>
        </p:nvSpPr>
        <p:spPr>
          <a:xfrm>
            <a:off x="6667500" y="952500"/>
            <a:ext cx="4714875"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850">
                <a:solidFill>
                  <a:srgbClr val="111111"/>
                </a:solidFill>
                <a:latin typeface="Short Stack"/>
                <a:ea typeface="Short Stack"/>
                <a:cs typeface="Short Stack"/>
                <a:sym typeface="Short Stack"/>
              </a:rPr>
              <a:t>ONLINE EVALS</a:t>
            </a:r>
            <a:endParaRPr/>
          </a:p>
        </p:txBody>
      </p:sp>
      <p:sp>
        <p:nvSpPr>
          <p:cNvPr id="109" name="Google Shape;109;p19"/>
          <p:cNvSpPr/>
          <p:nvPr/>
        </p:nvSpPr>
        <p:spPr>
          <a:xfrm>
            <a:off x="6667500" y="2381250"/>
            <a:ext cx="4714875"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550">
                <a:solidFill>
                  <a:srgbClr val="182C36"/>
                </a:solidFill>
                <a:latin typeface="Avenir"/>
                <a:ea typeface="Avenir"/>
                <a:cs typeface="Avenir"/>
                <a:sym typeface="Avenir"/>
              </a:rPr>
              <a:t>Address</a:t>
            </a:r>
            <a:r>
              <a:rPr b="0" i="0" lang="en-US" sz="2550">
                <a:solidFill>
                  <a:srgbClr val="182C36"/>
                </a:solidFill>
                <a:latin typeface="Avenir"/>
                <a:ea typeface="Avenir"/>
                <a:cs typeface="Avenir"/>
                <a:sym typeface="Avenir"/>
              </a:rPr>
              <a:t> rate</a:t>
            </a:r>
            <a:endParaRPr/>
          </a:p>
        </p:txBody>
      </p:sp>
      <p:sp>
        <p:nvSpPr>
          <p:cNvPr id="110" name="Google Shape;110;p19"/>
          <p:cNvSpPr/>
          <p:nvPr/>
        </p:nvSpPr>
        <p:spPr>
          <a:xfrm>
            <a:off x="6667500" y="3095625"/>
            <a:ext cx="4714875" cy="714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025">
                <a:solidFill>
                  <a:srgbClr val="182C36"/>
                </a:solidFill>
                <a:latin typeface="Avenir"/>
                <a:ea typeface="Avenir"/>
                <a:cs typeface="Avenir"/>
                <a:sym typeface="Avenir"/>
              </a:rPr>
              <a:t>Findings acted on / settled findings</a:t>
            </a:r>
            <a:endParaRPr/>
          </a:p>
        </p:txBody>
      </p:sp>
      <p:sp>
        <p:nvSpPr>
          <p:cNvPr id="111" name="Google Shape;111;p19"/>
          <p:cNvSpPr/>
          <p:nvPr/>
        </p:nvSpPr>
        <p:spPr>
          <a:xfrm>
            <a:off x="6667500" y="4524375"/>
            <a:ext cx="4714875" cy="5238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2550">
                <a:solidFill>
                  <a:srgbClr val="182C36"/>
                </a:solidFill>
                <a:latin typeface="Avenir"/>
                <a:ea typeface="Avenir"/>
                <a:cs typeface="Avenir"/>
                <a:sym typeface="Avenir"/>
              </a:rPr>
              <a:t>Change fail rate</a:t>
            </a:r>
            <a:endParaRPr/>
          </a:p>
        </p:txBody>
      </p:sp>
      <p:sp>
        <p:nvSpPr>
          <p:cNvPr id="112" name="Google Shape;112;p19"/>
          <p:cNvSpPr/>
          <p:nvPr/>
        </p:nvSpPr>
        <p:spPr>
          <a:xfrm>
            <a:off x="6667500" y="5143500"/>
            <a:ext cx="4714875" cy="8096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950">
                <a:solidFill>
                  <a:srgbClr val="182C36"/>
                </a:solidFill>
                <a:latin typeface="Avenir"/>
                <a:ea typeface="Avenir"/>
                <a:cs typeface="Avenir"/>
                <a:sym typeface="Avenir"/>
              </a:rPr>
              <a:t>Changes recommended by a finding that get fixed or reverted</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pic>
        <p:nvPicPr>
          <p:cNvPr id="118" name="Google Shape;118;p20" title="slide-14-art.png"/>
          <p:cNvPicPr preferRelativeResize="0"/>
          <p:nvPr/>
        </p:nvPicPr>
        <p:blipFill>
          <a:blip r:embed="rId4">
            <a:alphaModFix/>
          </a:blip>
          <a:stretch>
            <a:fillRect/>
          </a:stretch>
        </p:blipFill>
        <p:spPr>
          <a:xfrm>
            <a:off x="0" y="0"/>
            <a:ext cx="12188951" cy="6858001"/>
          </a:xfrm>
          <a:prstGeom prst="rect">
            <a:avLst/>
          </a:prstGeom>
          <a:noFill/>
          <a:ln>
            <a:noFill/>
          </a:ln>
        </p:spPr>
      </p:pic>
      <p:sp>
        <p:nvSpPr>
          <p:cNvPr id="119" name="Google Shape;119;p20"/>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
        <p:nvSpPr>
          <p:cNvPr id="120" name="Google Shape;120;p20"/>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OpenAI Alignment Blog · 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 name="Shape 125"/>
        <p:cNvGrpSpPr/>
        <p:nvPr/>
      </p:nvGrpSpPr>
      <p:grpSpPr>
        <a:xfrm>
          <a:off x="0" y="0"/>
          <a:ext cx="0" cy="0"/>
          <a:chOff x="0" y="0"/>
          <a:chExt cx="0" cy="0"/>
        </a:xfrm>
      </p:grpSpPr>
      <p:pic>
        <p:nvPicPr>
          <p:cNvPr id="126" name="Google Shape;126;p21"/>
          <p:cNvPicPr preferRelativeResize="0"/>
          <p:nvPr/>
        </p:nvPicPr>
        <p:blipFill rotWithShape="1">
          <a:blip r:embed="rId4">
            <a:alphaModFix/>
          </a:blip>
          <a:srcRect b="13078" l="846" r="451" t="17926"/>
          <a:stretch/>
        </p:blipFill>
        <p:spPr>
          <a:xfrm>
            <a:off x="972178" y="1304775"/>
            <a:ext cx="10247644" cy="3581701"/>
          </a:xfrm>
          <a:prstGeom prst="rect">
            <a:avLst/>
          </a:prstGeom>
          <a:noFill/>
          <a:ln>
            <a:noFill/>
          </a:ln>
        </p:spPr>
      </p:pic>
      <p:sp>
        <p:nvSpPr>
          <p:cNvPr id="127" name="Google Shape;127;p21"/>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28" name="Google Shape;128;p21"/>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 name="Shape 133"/>
        <p:cNvGrpSpPr/>
        <p:nvPr/>
      </p:nvGrpSpPr>
      <p:grpSpPr>
        <a:xfrm>
          <a:off x="0" y="0"/>
          <a:ext cx="0" cy="0"/>
          <a:chOff x="0" y="0"/>
          <a:chExt cx="0" cy="0"/>
        </a:xfrm>
      </p:grpSpPr>
      <p:pic>
        <p:nvPicPr>
          <p:cNvPr id="134" name="Google Shape;134;p22"/>
          <p:cNvPicPr preferRelativeResize="0"/>
          <p:nvPr/>
        </p:nvPicPr>
        <p:blipFill rotWithShape="1">
          <a:blip r:embed="rId3">
            <a:alphaModFix/>
          </a:blip>
          <a:srcRect b="7400" l="0" r="0" t="0"/>
          <a:stretch/>
        </p:blipFill>
        <p:spPr>
          <a:xfrm>
            <a:off x="2372545" y="1703799"/>
            <a:ext cx="7434499" cy="3872392"/>
          </a:xfrm>
          <a:prstGeom prst="rect">
            <a:avLst/>
          </a:prstGeom>
          <a:noFill/>
          <a:ln>
            <a:noFill/>
          </a:ln>
        </p:spPr>
      </p:pic>
      <p:pic>
        <p:nvPicPr>
          <p:cNvPr id="135" name="Google Shape;135;p22"/>
          <p:cNvPicPr preferRelativeResize="0"/>
          <p:nvPr/>
        </p:nvPicPr>
        <p:blipFill rotWithShape="1">
          <a:blip r:embed="rId4">
            <a:alphaModFix/>
          </a:blip>
          <a:srcRect b="0" l="0" r="0" t="0"/>
          <a:stretch/>
        </p:blipFill>
        <p:spPr>
          <a:xfrm>
            <a:off x="2070327" y="909462"/>
            <a:ext cx="8051344" cy="5039075"/>
          </a:xfrm>
          <a:prstGeom prst="rect">
            <a:avLst/>
          </a:prstGeom>
          <a:noFill/>
          <a:ln>
            <a:noFill/>
          </a:ln>
        </p:spPr>
      </p:pic>
      <p:sp>
        <p:nvSpPr>
          <p:cNvPr id="136" name="Google Shape;136;p22"/>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 name="Shape 141"/>
        <p:cNvGrpSpPr/>
        <p:nvPr/>
      </p:nvGrpSpPr>
      <p:grpSpPr>
        <a:xfrm>
          <a:off x="0" y="0"/>
          <a:ext cx="0" cy="0"/>
          <a:chOff x="0" y="0"/>
          <a:chExt cx="0" cy="0"/>
        </a:xfrm>
      </p:grpSpPr>
      <p:pic>
        <p:nvPicPr>
          <p:cNvPr id="142" name="Google Shape;142;p23"/>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43" name="Google Shape;143;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pic>
        <p:nvPicPr>
          <p:cNvPr id="149" name="Google Shape;149;p24" title="irreversible-18-v68.png"/>
          <p:cNvPicPr preferRelativeResize="0"/>
          <p:nvPr/>
        </p:nvPicPr>
        <p:blipFill rotWithShape="1">
          <a:blip r:embed="rId3">
            <a:alphaModFix/>
          </a:blip>
          <a:srcRect b="11655" l="7020" r="1698" t="15681"/>
          <a:stretch/>
        </p:blipFill>
        <p:spPr>
          <a:xfrm>
            <a:off x="1762479" y="1154185"/>
            <a:ext cx="8667042" cy="3882879"/>
          </a:xfrm>
          <a:prstGeom prst="rect">
            <a:avLst/>
          </a:prstGeom>
          <a:noFill/>
          <a:ln>
            <a:noFill/>
          </a:ln>
        </p:spPr>
      </p:pic>
      <p:sp>
        <p:nvSpPr>
          <p:cNvPr id="150" name="Google Shape;150;p24"/>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over one reviewer</a:t>
            </a:r>
            <a:endParaRPr/>
          </a:p>
        </p:txBody>
      </p:sp>
      <p:sp>
        <p:nvSpPr>
          <p:cNvPr id="151" name="Google Shape;151;p2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 name="Shape 156"/>
        <p:cNvGrpSpPr/>
        <p:nvPr/>
      </p:nvGrpSpPr>
      <p:grpSpPr>
        <a:xfrm>
          <a:off x="0" y="0"/>
          <a:ext cx="0" cy="0"/>
          <a:chOff x="0" y="0"/>
          <a:chExt cx="0" cy="0"/>
        </a:xfrm>
      </p:grpSpPr>
      <p:pic>
        <p:nvPicPr>
          <p:cNvPr id="157" name="Google Shape;157;p25" title="irreversible-19-v68.png"/>
          <p:cNvPicPr preferRelativeResize="0"/>
          <p:nvPr/>
        </p:nvPicPr>
        <p:blipFill rotWithShape="1">
          <a:blip r:embed="rId4">
            <a:alphaModFix/>
          </a:blip>
          <a:srcRect b="12549" l="0" r="0" t="0"/>
          <a:stretch/>
        </p:blipFill>
        <p:spPr>
          <a:xfrm>
            <a:off x="0" y="0"/>
            <a:ext cx="12191998" cy="6000750"/>
          </a:xfrm>
          <a:prstGeom prst="rect">
            <a:avLst/>
          </a:prstGeom>
          <a:noFill/>
          <a:ln>
            <a:noFill/>
          </a:ln>
        </p:spPr>
      </p:pic>
      <p:sp>
        <p:nvSpPr>
          <p:cNvPr id="158" name="Google Shape;158;p25"/>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More</a:t>
            </a:r>
            <a:r>
              <a:rPr b="0" i="1" lang="en-US" sz="2175">
                <a:solidFill>
                  <a:srgbClr val="111111"/>
                </a:solidFill>
                <a:latin typeface="Georgia"/>
                <a:ea typeface="Georgia"/>
                <a:cs typeface="Georgia"/>
                <a:sym typeface="Georgia"/>
              </a:rPr>
              <a:t> layers increase precision</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more reviewers increase recall</a:t>
            </a:r>
            <a:endParaRPr/>
          </a:p>
        </p:txBody>
      </p:sp>
      <p:sp>
        <p:nvSpPr>
          <p:cNvPr id="159" name="Google Shape;159;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DoorDash / </a:t>
            </a:r>
            <a:r>
              <a:rPr b="0" i="0" lang="en-US" sz="1275" u="sng">
                <a:solidFill>
                  <a:schemeClr val="hlink"/>
                </a:solidFill>
                <a:latin typeface="Avenir"/>
                <a:ea typeface="Avenir"/>
                <a:cs typeface="Avenir"/>
                <a:sym typeface="Avenir"/>
                <a:hlinkClick r:id="rId6"/>
              </a:rPr>
              <a:t>Figma</a:t>
            </a:r>
            <a:r>
              <a:rPr b="0" i="0" lang="en-US" sz="1275" u="sng">
                <a:solidFill>
                  <a:schemeClr val="hlink"/>
                </a:solidFill>
                <a:latin typeface="Avenir"/>
                <a:ea typeface="Avenir"/>
                <a:cs typeface="Avenir"/>
                <a:sym typeface="Avenir"/>
                <a:hlinkClick r:id="rId7"/>
              </a:rPr>
              <a:t> · 2026</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 name="Shape 164"/>
        <p:cNvGrpSpPr/>
        <p:nvPr/>
      </p:nvGrpSpPr>
      <p:grpSpPr>
        <a:xfrm>
          <a:off x="0" y="0"/>
          <a:ext cx="0" cy="0"/>
          <a:chOff x="0" y="0"/>
          <a:chExt cx="0" cy="0"/>
        </a:xfrm>
      </p:grpSpPr>
      <p:graphicFrame>
        <p:nvGraphicFramePr>
          <p:cNvPr id="165" name="Google Shape;165;p26"/>
          <p:cNvGraphicFramePr/>
          <p:nvPr/>
        </p:nvGraphicFramePr>
        <p:xfrm>
          <a:off x="3619500" y="2375788"/>
          <a:ext cx="3000000" cy="3000000"/>
        </p:xfrm>
        <a:graphic>
          <a:graphicData uri="http://schemas.openxmlformats.org/drawingml/2006/table">
            <a:tbl>
              <a:tblPr>
                <a:noFill/>
                <a:tableStyleId>{5FA5C53A-62A4-488F-9215-44A30D4286DE}</a:tableStyleId>
              </a:tblPr>
              <a:tblGrid>
                <a:gridCol w="3400000"/>
                <a:gridCol w="1047750"/>
                <a:gridCol w="1047750"/>
                <a:gridCol w="1047750"/>
              </a:tblGrid>
              <a:tr h="678650">
                <a:tc>
                  <a:txBody>
                    <a:bodyPr/>
                    <a:lstStyle/>
                    <a:p>
                      <a:pPr indent="0" lvl="0" marL="0" marR="0" rtl="0" algn="l">
                        <a:spcBef>
                          <a:spcPts val="0"/>
                        </a:spcBef>
                        <a:spcAft>
                          <a:spcPts val="0"/>
                        </a:spcAft>
                        <a:buClr>
                          <a:srgbClr val="182C36"/>
                        </a:buClr>
                        <a:buSzPts val="1500"/>
                        <a:buFont typeface="Avenir"/>
                        <a:buNone/>
                      </a:pPr>
                      <a:r>
                        <a:rPr b="1" lang="en-US" sz="1500" u="none" cap="none" strike="noStrike">
                          <a:solidFill>
                            <a:srgbClr val="182C36"/>
                          </a:solidFill>
                          <a:latin typeface="Avenir"/>
                          <a:ea typeface="Avenir"/>
                          <a:cs typeface="Avenir"/>
                          <a:sym typeface="Avenir"/>
                        </a:rPr>
                        <a:t>Reviewer</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Precision</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Recall</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F1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block/review, all findings</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91.5%</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44.4%</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59.8%</a:t>
                      </a:r>
                      <a:endParaRPr/>
                    </a:p>
                  </a:txBody>
                  <a:tcPr marT="114300" marB="95250" marR="76200" marL="114300">
                    <a:solidFill>
                      <a:srgbClr val="FFFFFF"/>
                    </a:solidFill>
                  </a:tcPr>
                </a:tc>
              </a:tr>
              <a:tr h="678650">
                <a:tc>
                  <a:txBody>
                    <a:bodyPr/>
                    <a:lstStyle/>
                    <a:p>
                      <a:pPr indent="0" lvl="0" marL="0" marR="0" rtl="0" algn="l">
                        <a:spcBef>
                          <a:spcPts val="0"/>
                        </a:spcBef>
                        <a:spcAft>
                          <a:spcPts val="0"/>
                        </a:spcAft>
                        <a:buNone/>
                      </a:pPr>
                      <a:r>
                        <a:rPr lang="en-US" sz="1575">
                          <a:solidFill>
                            <a:srgbClr val="182C36"/>
                          </a:solidFill>
                          <a:latin typeface="Avenir"/>
                          <a:ea typeface="Avenir"/>
                          <a:cs typeface="Avenir"/>
                          <a:sym typeface="Avenir"/>
                        </a:rPr>
                        <a:t>block/review, high confidence</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None/>
                      </a:pPr>
                      <a:r>
                        <a:rPr lang="en-US" sz="1575">
                          <a:solidFill>
                            <a:srgbClr val="182C36"/>
                          </a:solidFill>
                          <a:latin typeface="Avenir"/>
                          <a:ea typeface="Avenir"/>
                          <a:cs typeface="Avenir"/>
                          <a:sym typeface="Avenir"/>
                        </a:rPr>
                        <a:t>96.6%</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None/>
                      </a:pPr>
                      <a:r>
                        <a:rPr lang="en-US" sz="1575">
                          <a:solidFill>
                            <a:srgbClr val="182C36"/>
                          </a:solidFill>
                          <a:latin typeface="Avenir"/>
                          <a:ea typeface="Avenir"/>
                          <a:cs typeface="Avenir"/>
                          <a:sym typeface="Avenir"/>
                        </a:rPr>
                        <a:t>21.9%</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None/>
                      </a:pPr>
                      <a:r>
                        <a:rPr lang="en-US" sz="1575">
                          <a:solidFill>
                            <a:srgbClr val="182C36"/>
                          </a:solidFill>
                          <a:latin typeface="Avenir"/>
                          <a:ea typeface="Avenir"/>
                          <a:cs typeface="Avenir"/>
                          <a:sym typeface="Avenir"/>
                        </a:rPr>
                        <a:t>35.7%</a:t>
                      </a:r>
                      <a:endParaRPr sz="1575">
                        <a:solidFill>
                          <a:srgbClr val="182C36"/>
                        </a:solidFill>
                        <a:latin typeface="Avenir"/>
                        <a:ea typeface="Avenir"/>
                        <a:cs typeface="Avenir"/>
                        <a:sym typeface="Aveni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Copilot Code Review</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87.8%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26.0%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40.1%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Devin AI</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84.0%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23.8%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37.0%</a:t>
                      </a:r>
                      <a:endParaRPr/>
                    </a:p>
                  </a:txBody>
                  <a:tcPr marT="114300" marB="95250" marR="76200" marL="114300">
                    <a:solidFill>
                      <a:srgbClr val="FFFFFF"/>
                    </a:solidFill>
                  </a:tcPr>
                </a:tc>
              </a:tr>
            </a:tbl>
          </a:graphicData>
        </a:graphic>
      </p:graphicFrame>
      <p:sp>
        <p:nvSpPr>
          <p:cNvPr id="166" name="Google Shape;166;p26"/>
          <p:cNvSpPr/>
          <p:nvPr/>
        </p:nvSpPr>
        <p:spPr>
          <a:xfrm>
            <a:off x="3667125" y="1756663"/>
            <a:ext cx="48579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100">
                <a:solidFill>
                  <a:srgbClr val="111111"/>
                </a:solidFill>
                <a:latin typeface="Short Stack"/>
                <a:ea typeface="Short Stack"/>
                <a:cs typeface="Short Stack"/>
                <a:sym typeface="Short Stack"/>
              </a:rPr>
              <a:t>Grounded scores</a:t>
            </a:r>
            <a:endParaRPr/>
          </a:p>
        </p:txBody>
      </p:sp>
      <p:sp>
        <p:nvSpPr>
          <p:cNvPr id="167" name="Google Shape;167;p2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block/review on GitHub · 21 of 25 test PRs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 name="Shape 172"/>
        <p:cNvGrpSpPr/>
        <p:nvPr/>
      </p:nvGrpSpPr>
      <p:grpSpPr>
        <a:xfrm>
          <a:off x="0" y="0"/>
          <a:ext cx="0" cy="0"/>
          <a:chOff x="0" y="0"/>
          <a:chExt cx="0" cy="0"/>
        </a:xfrm>
      </p:grpSpPr>
      <p:pic>
        <p:nvPicPr>
          <p:cNvPr id="173" name="Google Shape;173;p27" title="irreversible-21-v68.png"/>
          <p:cNvPicPr preferRelativeResize="0"/>
          <p:nvPr/>
        </p:nvPicPr>
        <p:blipFill rotWithShape="1">
          <a:blip r:embed="rId4">
            <a:alphaModFix/>
          </a:blip>
          <a:srcRect b="8324" l="0" r="0" t="15798"/>
          <a:stretch/>
        </p:blipFill>
        <p:spPr>
          <a:xfrm>
            <a:off x="807145" y="837107"/>
            <a:ext cx="10577712" cy="4517035"/>
          </a:xfrm>
          <a:prstGeom prst="rect">
            <a:avLst/>
          </a:prstGeom>
          <a:noFill/>
          <a:ln>
            <a:noFill/>
          </a:ln>
        </p:spPr>
      </p:pic>
      <p:sp>
        <p:nvSpPr>
          <p:cNvPr id="174" name="Google Shape;174;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
        <p:nvSpPr>
          <p:cNvPr id="175" name="Google Shape;175;p2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Meta · RADAR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 name="Shape 180"/>
        <p:cNvGrpSpPr/>
        <p:nvPr/>
      </p:nvGrpSpPr>
      <p:grpSpPr>
        <a:xfrm>
          <a:off x="0" y="0"/>
          <a:ext cx="0" cy="0"/>
          <a:chOff x="0" y="0"/>
          <a:chExt cx="0" cy="0"/>
        </a:xfrm>
      </p:grpSpPr>
      <p:sp>
        <p:nvSpPr>
          <p:cNvPr id="181" name="Google Shape;181;p28"/>
          <p:cNvSpPr/>
          <p:nvPr/>
        </p:nvSpPr>
        <p:spPr>
          <a:xfrm>
            <a:off x="685800" y="2143125"/>
            <a:ext cx="4000500" cy="4000500"/>
          </a:xfrm>
          <a:prstGeom prst="rect">
            <a:avLst/>
          </a:prstGeom>
          <a:noFill/>
          <a:ln>
            <a:noFill/>
          </a:ln>
        </p:spPr>
        <p:txBody>
          <a:bodyPr anchorCtr="0" anchor="t" bIns="0" lIns="0" spcFirstLastPara="1" rIns="0" wrap="square" tIns="0">
            <a:noAutofit/>
          </a:bodyPr>
          <a:lstStyle/>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Infrastructure changes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Public claims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SOX compliance</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Money movement</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Personally identifying information</a:t>
            </a:r>
            <a:endParaRPr sz="1875">
              <a:solidFill>
                <a:srgbClr val="182C36"/>
              </a:solidFill>
              <a:latin typeface="Avenir"/>
              <a:ea typeface="Avenir"/>
              <a:cs typeface="Avenir"/>
              <a:sym typeface="Avenir"/>
            </a:endParaRPr>
          </a:p>
          <a:p>
            <a:pPr indent="0" lvl="0" marL="457200" marR="0" rtl="0" algn="l">
              <a:spcBef>
                <a:spcPts val="2200"/>
              </a:spcBef>
              <a:spcAft>
                <a:spcPts val="0"/>
              </a:spcAft>
              <a:buNone/>
            </a:pPr>
            <a:r>
              <a:t/>
            </a:r>
            <a:endParaRPr sz="1875">
              <a:solidFill>
                <a:srgbClr val="182C36"/>
              </a:solidFill>
              <a:latin typeface="Avenir"/>
              <a:ea typeface="Avenir"/>
              <a:cs typeface="Avenir"/>
              <a:sym typeface="Avenir"/>
            </a:endParaRPr>
          </a:p>
        </p:txBody>
      </p:sp>
      <p:pic>
        <p:nvPicPr>
          <p:cNvPr id="182" name="Google Shape;182;p28"/>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83" name="Google Shape;183;p28"/>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 name="Shape 188"/>
        <p:cNvGrpSpPr/>
        <p:nvPr/>
      </p:nvGrpSpPr>
      <p:grpSpPr>
        <a:xfrm>
          <a:off x="0" y="0"/>
          <a:ext cx="0" cy="0"/>
          <a:chOff x="0" y="0"/>
          <a:chExt cx="0" cy="0"/>
        </a:xfrm>
      </p:grpSpPr>
      <p:pic>
        <p:nvPicPr>
          <p:cNvPr id="189" name="Google Shape;189;p29"/>
          <p:cNvPicPr preferRelativeResize="0"/>
          <p:nvPr/>
        </p:nvPicPr>
        <p:blipFill rotWithShape="1">
          <a:blip r:embed="rId4">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 name="Shape 194"/>
        <p:cNvGrpSpPr/>
        <p:nvPr/>
      </p:nvGrpSpPr>
      <p:grpSpPr>
        <a:xfrm>
          <a:off x="0" y="0"/>
          <a:ext cx="0" cy="0"/>
          <a:chOff x="0" y="0"/>
          <a:chExt cx="0" cy="0"/>
        </a:xfrm>
      </p:grpSpPr>
      <p:pic>
        <p:nvPicPr>
          <p:cNvPr id="195" name="Google Shape;195;p30"/>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196" name="Google Shape;196;p30"/>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Align and contain</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 name="Shape 201"/>
        <p:cNvGrpSpPr/>
        <p:nvPr/>
      </p:nvGrpSpPr>
      <p:grpSpPr>
        <a:xfrm>
          <a:off x="0" y="0"/>
          <a:ext cx="0" cy="0"/>
          <a:chOff x="0" y="0"/>
          <a:chExt cx="0" cy="0"/>
        </a:xfrm>
      </p:grpSpPr>
      <p:pic>
        <p:nvPicPr>
          <p:cNvPr id="202" name="Google Shape;202;p31" title="planning-no-buzz-v69.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203" name="Google Shape;203;p31"/>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04" name="Google Shape;204;p31"/>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300" u="sng">
                <a:solidFill>
                  <a:schemeClr val="hlink"/>
                </a:solidFill>
                <a:latin typeface="Avenir"/>
                <a:ea typeface="Avenir"/>
                <a:cs typeface="Avenir"/>
                <a:sym typeface="Avenir"/>
                <a:hlinkClick r:id="rId5"/>
              </a:rPr>
              <a:t>Buzz</a:t>
            </a:r>
            <a:r>
              <a:rPr lang="en-US" sz="1300">
                <a:solidFill>
                  <a:schemeClr val="dk1"/>
                </a:solidFill>
                <a:latin typeface="Avenir"/>
                <a:ea typeface="Avenir"/>
                <a:cs typeface="Avenir"/>
                <a:sym typeface="Avenir"/>
              </a:rPr>
              <a:t> /</a:t>
            </a:r>
            <a:r>
              <a:rPr lang="en-US" sz="1300">
                <a:solidFill>
                  <a:schemeClr val="dk1"/>
                </a:solidFill>
                <a:uFill>
                  <a:noFill/>
                </a:uFill>
                <a:latin typeface="Avenir"/>
                <a:ea typeface="Avenir"/>
                <a:cs typeface="Avenir"/>
                <a:sym typeface="Avenir"/>
                <a:hlinkClick r:id="rId6">
                  <a:extLst>
                    <a:ext uri="{A12FA001-AC4F-418D-AE19-62706E023703}">
                      <ahyp:hlinkClr val="tx"/>
                    </a:ext>
                  </a:extLst>
                </a:hlinkClick>
              </a:rPr>
              <a:t> </a:t>
            </a:r>
            <a:r>
              <a:rPr lang="en-US" sz="1300" u="sng">
                <a:solidFill>
                  <a:schemeClr val="hlink"/>
                </a:solidFill>
                <a:latin typeface="Avenir"/>
                <a:ea typeface="Avenir"/>
                <a:cs typeface="Avenir"/>
                <a:sym typeface="Avenir"/>
                <a:hlinkClick r:id="rId7"/>
              </a:rPr>
              <a:t>CoPlan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32"/>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Prioritize precision</a:t>
            </a:r>
            <a:endParaRPr b="1" sz="4800">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over recall</a:t>
            </a:r>
            <a:endParaRPr b="1" sz="4800">
              <a:latin typeface="Avenir"/>
              <a:ea typeface="Avenir"/>
              <a:cs typeface="Avenir"/>
              <a:sym typeface="Avenir"/>
            </a:endParaRPr>
          </a:p>
          <a:p>
            <a:pPr indent="0" lvl="0" marL="0" rtl="0" algn="ctr">
              <a:spcBef>
                <a:spcPts val="0"/>
              </a:spcBef>
              <a:spcAft>
                <a:spcPts val="0"/>
              </a:spcAft>
              <a:buNone/>
            </a:pPr>
            <a:r>
              <a:t/>
            </a:r>
            <a:endParaRPr b="1" sz="4800">
              <a:latin typeface="Avenir"/>
              <a:ea typeface="Avenir"/>
              <a:cs typeface="Avenir"/>
              <a:sym typeface="Aveni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 name="Shape 215"/>
        <p:cNvGrpSpPr/>
        <p:nvPr/>
      </p:nvGrpSpPr>
      <p:grpSpPr>
        <a:xfrm>
          <a:off x="0" y="0"/>
          <a:ext cx="0" cy="0"/>
          <a:chOff x="0" y="0"/>
          <a:chExt cx="0" cy="0"/>
        </a:xfrm>
      </p:grpSpPr>
      <p:sp>
        <p:nvSpPr>
          <p:cNvPr id="216" name="Google Shape;216;p33"/>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Give your agents</a:t>
            </a:r>
            <a:endParaRPr b="1" sz="4800">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the big picture</a:t>
            </a:r>
            <a:endParaRPr b="1" sz="4800">
              <a:latin typeface="Avenir"/>
              <a:ea typeface="Avenir"/>
              <a:cs typeface="Avenir"/>
              <a:sym typeface="Avenir"/>
            </a:endParaRPr>
          </a:p>
          <a:p>
            <a:pPr indent="0" lvl="0" marL="0" rtl="0" algn="ctr">
              <a:spcBef>
                <a:spcPts val="0"/>
              </a:spcBef>
              <a:spcAft>
                <a:spcPts val="0"/>
              </a:spcAft>
              <a:buNone/>
            </a:pPr>
            <a:r>
              <a:t/>
            </a:r>
            <a:endParaRPr b="1" sz="4800">
              <a:latin typeface="Avenir"/>
              <a:ea typeface="Avenir"/>
              <a:cs typeface="Avenir"/>
              <a:sym typeface="Aveni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 name="Shape 221"/>
        <p:cNvGrpSpPr/>
        <p:nvPr/>
      </p:nvGrpSpPr>
      <p:grpSpPr>
        <a:xfrm>
          <a:off x="0" y="0"/>
          <a:ext cx="0" cy="0"/>
          <a:chOff x="0" y="0"/>
          <a:chExt cx="0" cy="0"/>
        </a:xfrm>
      </p:grpSpPr>
      <p:sp>
        <p:nvSpPr>
          <p:cNvPr id="222" name="Google Shape;222;p34"/>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Build alignment</a:t>
            </a:r>
            <a:endParaRPr b="1" sz="4800">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before the code is written</a:t>
            </a:r>
            <a:endParaRPr b="1" sz="4800">
              <a:latin typeface="Avenir"/>
              <a:ea typeface="Avenir"/>
              <a:cs typeface="Avenir"/>
              <a:sym typeface="Avenir"/>
            </a:endParaRPr>
          </a:p>
          <a:p>
            <a:pPr indent="0" lvl="0" marL="0" rtl="0" algn="ctr">
              <a:spcBef>
                <a:spcPts val="0"/>
              </a:spcBef>
              <a:spcAft>
                <a:spcPts val="0"/>
              </a:spcAft>
              <a:buNone/>
            </a:pPr>
            <a:r>
              <a:t/>
            </a:r>
            <a:endParaRPr b="1" sz="4800">
              <a:latin typeface="Avenir"/>
              <a:ea typeface="Avenir"/>
              <a:cs typeface="Avenir"/>
              <a:sym typeface="Aveni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 name="Shape 227"/>
        <p:cNvGrpSpPr/>
        <p:nvPr/>
      </p:nvGrpSpPr>
      <p:grpSpPr>
        <a:xfrm>
          <a:off x="0" y="0"/>
          <a:ext cx="0" cy="0"/>
          <a:chOff x="0" y="0"/>
          <a:chExt cx="0" cy="0"/>
        </a:xfrm>
      </p:grpSpPr>
      <p:pic>
        <p:nvPicPr>
          <p:cNvPr id="228" name="Google Shape;228;p35" title="slide-27-art.png"/>
          <p:cNvPicPr preferRelativeResize="0"/>
          <p:nvPr/>
        </p:nvPicPr>
        <p:blipFill rotWithShape="1">
          <a:blip r:embed="rId4">
            <a:alphaModFix/>
          </a:blip>
          <a:srcRect b="2803" l="0" r="0" t="2803"/>
          <a:stretch/>
        </p:blipFill>
        <p:spPr>
          <a:xfrm>
            <a:off x="0" y="0"/>
            <a:ext cx="12191998" cy="6476999"/>
          </a:xfrm>
          <a:prstGeom prst="rect">
            <a:avLst/>
          </a:prstGeom>
          <a:noFill/>
          <a:ln>
            <a:noFill/>
          </a:ln>
        </p:spPr>
      </p:pic>
      <p:sp>
        <p:nvSpPr>
          <p:cNvPr id="229" name="Google Shape;229;p3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joahg.dev/cut-the-noise</a:t>
            </a:r>
            <a:endParaRPr/>
          </a:p>
        </p:txBody>
      </p:sp>
      <p:pic>
        <p:nvPicPr>
          <p:cNvPr id="230" name="Google Shape;230;p35" title="presentation-qr.png"/>
          <p:cNvPicPr preferRelativeResize="0"/>
          <p:nvPr/>
        </p:nvPicPr>
        <p:blipFill>
          <a:blip r:embed="rId6">
            <a:alphaModFix/>
          </a:blip>
          <a:stretch>
            <a:fillRect/>
          </a:stretch>
        </p:blipFill>
        <p:spPr>
          <a:xfrm>
            <a:off x="10194025" y="5118900"/>
            <a:ext cx="1434300" cy="1434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