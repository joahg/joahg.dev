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10.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Lst>
  <p:sldSz cy="6858000" cx="12192000"/>
  <p:notesSz cx="6858000" cy="9144000"/>
  <p:embeddedFontLst>
    <p:embeddedFont>
      <p:font typeface="Short Stack"/>
      <p:regular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0" name="Ethan Schlenker"/>
  <p:cmAuthor clrIdx="1" id="1" initials="" lastIdx="2"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font" Target="fonts/ShortStack-regular.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2:55:45.579">
    <p:pos x="6000" y="0"/>
    <p:text>if you want a blank screen behind you, use a black slide</p:text>
  </p:cm>
  <p:cm authorId="1" idx="1" dt="2026-10-14T22:55:45.579">
    <p:pos x="6000" y="0"/>
    <p:text>oooooooh smart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1:25:28.512">
    <p:pos x="347" y="304"/>
    <p:text>need to put the "account disabled" on angie's handle &gt;:)</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2:56:42.663">
    <p:pos x="0" y="348"/>
    <p:text>the imagery here is a little, uh, cooked? Fried?  What do the kids say when something feels close but off? the coffee-&gt;money-&gt;coffee felt like an odd way to describe double charging</p:text>
  </p:cm>
  <p:cm authorId="1" idx="2" dt="2026-10-14T22:56:42.663">
    <p:pos x="0" y="348"/>
    <p:text>hahaha the intention here was to show the _good_ state - not double charging. I'll see if I can clean it up a little</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2:24.133">
    <p:pos x="0" y="0"/>
    <p:text>related to the note on the previous slide, this image made me think that recall isn't important? then why do it?  
I think the words themselves are tricky to me, a new learner of these things</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13:34.733">
    <p:pos x="6000" y="0"/>
    <p:text>be nice to add some milestones about changes made along the way (eg, new model, prompt change, here's when we added the specialists, etc)</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5:01.678">
    <p:pos x="6000" y="0"/>
    <p:text>give me a chart or something more compelling here! You won the whole thing! that's cool!</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16:37.562">
    <p:pos x="6000" y="0"/>
    <p:text>not sure this needs it's own slide? I like the next slide about "here's where the creative work is now"</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10.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10-15T03:19:07.877">
    <p:pos x="6000" y="0"/>
    <p:text>I like this slide a lot as an ending
1 total reaction
Joah Gerstenberg reacted with ♥️ at 10/15/2026, 3:19 AM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verify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we’ve learned this year while building a reviewer that we actually trust. Hopefully that’s the talk you’re here to see :) </a:t>
            </a:r>
            <a:endParaRPr/>
          </a:p>
        </p:txBody>
      </p:sp>
      <p:sp>
        <p:nvSpPr>
          <p:cNvPr id="40" name="Google Shape;4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2" name="Google Shape;5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8" name="Google Shape;5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 name="Google Shape;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p:txBody>
      </p:sp>
      <p:sp>
        <p:nvSpPr>
          <p:cNvPr id="64" name="Google Shape;6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6" name="Google Shape;7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golden review set, we’ve </a:t>
            </a:r>
            <a:r>
              <a:rPr lang="en-US"/>
              <a:t>collected</a:t>
            </a:r>
            <a:r>
              <a:rPr lang="en-US"/>
              <a:t> hundreds </a:t>
            </a:r>
            <a:r>
              <a:rPr lang="en-US"/>
              <a:t>of high-quality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we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2" name="Google Shape;82;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0" name="Google Shape;90;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 name="Google Shape;96;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also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7" name="Google Shape;97;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p:txBody>
      </p:sp>
      <p:sp>
        <p:nvSpPr>
          <p:cNvPr id="105" name="Google Shape;10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d9457396a94bf3e_7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d9457396a94bf3e_7_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A system’s precision allows you to measure true positives - what percentage of its findings are legitimate, and how many are just noise?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10 findings, but 3 was wrong, it would have 70% precision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Likewise, recall allows you to measure how many of the total findings we caught - how many of the real vulnerabilities did we catch?</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5 findings, out of 10 possible findings, it would have 50% recall</a:t>
            </a:r>
            <a:endParaRPr/>
          </a:p>
        </p:txBody>
      </p:sp>
      <p:sp>
        <p:nvSpPr>
          <p:cNvPr id="112" name="Google Shape;112;h4d9457396a94bf3e_7_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4d9457396a94bf3e_7_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4d9457396a94bf3e_7_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Once a reviewer is running in production, you can begin measuring how many of its findings are actually accepted by humans, and monitoring how often a recommended change needs to be reverted.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Evals like these need to lead the conversation when building agentic systems. If you aren’t able to prove that your agents are doing what you expect them to be doing, you have missed a step in your design. </a:t>
            </a:r>
            <a:endParaRPr>
              <a:solidFill>
                <a:schemeClr val="dk1"/>
              </a:solidFill>
            </a:endParaRPr>
          </a:p>
          <a:p>
            <a:pPr indent="0" lvl="0" marL="0" rtl="0" algn="l">
              <a:spcBef>
                <a:spcPts val="0"/>
              </a:spcBef>
              <a:spcAft>
                <a:spcPts val="0"/>
              </a:spcAft>
              <a:buNone/>
            </a:pPr>
            <a:r>
              <a:t/>
            </a:r>
            <a:endParaRPr/>
          </a:p>
        </p:txBody>
      </p:sp>
      <p:sp>
        <p:nvSpPr>
          <p:cNvPr id="119" name="Google Shape;119;h4d9457396a94bf3e_7_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they shared that if you want to build a code reviewer that is usable, optimizing for precision is far more important than optimizing for recall.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While we need to know that our reviewer is catching the highest severity issues, We have to refuse the urge to try and catch everything, and instead accept that some low severity issues will make it to production.</a:t>
            </a:r>
            <a:endParaRPr/>
          </a:p>
        </p:txBody>
      </p:sp>
      <p:sp>
        <p:nvSpPr>
          <p:cNvPr id="126" name="Google Shape;12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34" name="Google Shape;13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42" name="Google Shape;14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50" name="Google Shape;150;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 name="Google Shape;156;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Essentially, yes - that’s the strategy.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57" name="Google Shape;157;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65" name="Google Shape;165;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73" name="Google Shape;173;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our own version of this risk router inside our own agentic review system that identifies common risk patterns unique to our work. We flag changes that are privacy or security sensitive, touch money movement, or modify schemas to route them for a more thorough review. We have found that a risk</a:t>
            </a:r>
            <a:r>
              <a:rPr lang="en-US"/>
              <a:t>-based review system like this makes it possible for autonomous agents to rapidly merge low-risk changes to improve our code, and this has become a critical piece of our development platform. </a:t>
            </a:r>
            <a:endParaRPr/>
          </a:p>
        </p:txBody>
      </p:sp>
      <p:sp>
        <p:nvSpPr>
          <p:cNvPr id="181" name="Google Shape;181;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 name="Google Shape;188;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we’ve learned this year is that, no matter how much we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89" name="Google Shape;189;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p:txBody>
      </p:sp>
      <p:sp>
        <p:nvSpPr>
          <p:cNvPr id="197" name="Google Shape;197;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 name="Google Shape;202;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we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our agents have the context of goals, we must thoughtfully consider how we can contain their impact so we’re able to verify that they are achieving those goals in aligned ways.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a critical layer of infrastructure for containing the effect of agents on our customer experience. </a:t>
            </a:r>
            <a:endParaRPr/>
          </a:p>
        </p:txBody>
      </p:sp>
      <p:sp>
        <p:nvSpPr>
          <p:cNvPr id="203" name="Google Shape;203;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9" name="Google Shape;20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10" name="Google Shape;210;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18" name="Google Shape;218;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a:t>
            </a:r>
            <a:r>
              <a:rPr lang="en-US"/>
              <a:t>Once we’ve made our preferences and goals legible to our agents, they are able to make local decisions more mindfully.  Even as the models get better</a:t>
            </a:r>
            <a:r>
              <a:rPr lang="en-US"/>
              <a:t>, maintaining an adversarial reviewer that double checks your agents’ output </a:t>
            </a:r>
            <a:r>
              <a:rPr lang="en-US"/>
              <a:t>allows you to </a:t>
            </a:r>
            <a:r>
              <a:rPr lang="en-US"/>
              <a:t>contain new risks being introduced. </a:t>
            </a:r>
            <a:endParaRPr/>
          </a:p>
        </p:txBody>
      </p:sp>
      <p:sp>
        <p:nvSpPr>
          <p:cNvPr id="224" name="Google Shape;224;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Using agent-native platforms to plan allows them to build </a:t>
            </a:r>
            <a:r>
              <a:rPr lang="en-US"/>
              <a:t>a more complete model of your world, and makes it easier to trust the work once it’s complete.</a:t>
            </a:r>
            <a:endParaRPr/>
          </a:p>
        </p:txBody>
      </p:sp>
      <p:sp>
        <p:nvSpPr>
          <p:cNvPr id="230" name="Google Shape;230;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5" name="Google Shape;235;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36" name="Google Shape;236;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2.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1.png"/><Relationship Id="rId4" Type="http://schemas.openxmlformats.org/officeDocument/2006/relationships/image" Target="../media/image1.png"/><Relationship Id="rId5" Type="http://schemas.openxmlformats.org/officeDocument/2006/relationships/image" Target="../media/image3.png"/><Relationship Id="rId6" Type="http://schemas.openxmlformats.org/officeDocument/2006/relationships/image" Target="../media/image2.png"/><Relationship Id="rId7" Type="http://schemas.openxmlformats.org/officeDocument/2006/relationships/image" Target="../media/image4.png"/><Relationship Id="rId8"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3.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4.xml"/><Relationship Id="rId4" Type="http://schemas.openxmlformats.org/officeDocument/2006/relationships/image" Target="../media/image24.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5.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hyperlink" Target="https://review-bench.ai/" TargetMode="External"/><Relationship Id="rId5"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6.xml"/><Relationship Id="rId4" Type="http://schemas.openxmlformats.org/officeDocument/2006/relationships/image" Target="../media/image27.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7.xml"/><Relationship Id="rId4" Type="http://schemas.openxmlformats.org/officeDocument/2006/relationships/hyperlink" Target="https://review-bench.ai/" TargetMode="External"/><Relationship Id="rId5"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0.png"/><Relationship Id="rId4"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8.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9.xml"/><Relationship Id="rId4" Type="http://schemas.openxmlformats.org/officeDocument/2006/relationships/image" Target="../media/image28.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10.xml"/><Relationship Id="rId4" Type="http://schemas.openxmlformats.org/officeDocument/2006/relationships/image" Target="../media/image30.png"/><Relationship Id="rId5" Type="http://schemas.openxmlformats.org/officeDocument/2006/relationships/hyperlink" Target="https://joahg.dev/cut-the-noise" TargetMode="External"/><Relationship Id="rId6"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pic>
        <p:nvPicPr>
          <p:cNvPr id="36" name="Google Shape;36;p9" title="slack-v72.png"/>
          <p:cNvPicPr preferRelativeResize="0"/>
          <p:nvPr/>
        </p:nvPicPr>
        <p:blipFill rotWithShape="1">
          <a:blip r:embed="rId4">
            <a:alphaModFix/>
          </a:blip>
          <a:srcRect b="2803" l="0" r="0" t="2803"/>
          <a:stretch/>
        </p:blipFill>
        <p:spPr>
          <a:xfrm>
            <a:off x="551488" y="483475"/>
            <a:ext cx="11089026" cy="58910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 name="Shape 41"/>
        <p:cNvGrpSpPr/>
        <p:nvPr/>
      </p:nvGrpSpPr>
      <p:grpSpPr>
        <a:xfrm>
          <a:off x="0" y="0"/>
          <a:ext cx="0" cy="0"/>
          <a:chOff x="0" y="0"/>
          <a:chExt cx="0" cy="0"/>
        </a:xfrm>
      </p:grpSpPr>
      <p:sp>
        <p:nvSpPr>
          <p:cNvPr id="42" name="Google Shape;42;p10"/>
          <p:cNvSpPr txBox="1"/>
          <p:nvPr/>
        </p:nvSpPr>
        <p:spPr>
          <a:xfrm>
            <a:off x="7534309" y="5271696"/>
            <a:ext cx="4379400" cy="687900"/>
          </a:xfrm>
          <a:prstGeom prst="rect">
            <a:avLst/>
          </a:prstGeom>
          <a:noFill/>
          <a:ln>
            <a:noFill/>
          </a:ln>
        </p:spPr>
        <p:txBody>
          <a:bodyPr anchorCtr="0" anchor="t" bIns="91425" lIns="91425" spcFirstLastPara="1" rIns="91425" wrap="square" tIns="91425">
            <a:spAutoFit/>
          </a:bodyPr>
          <a:lstStyle/>
          <a:p>
            <a:pPr indent="0" lvl="0" marL="0" rtl="0" algn="r">
              <a:lnSpc>
                <a:spcPct val="115000"/>
              </a:lnSpc>
              <a:spcBef>
                <a:spcPts val="0"/>
              </a:spcBef>
              <a:spcAft>
                <a:spcPts val="0"/>
              </a:spcAft>
              <a:buNone/>
            </a:pPr>
            <a:r>
              <a:rPr b="1" lang="en-US" sz="1800">
                <a:solidFill>
                  <a:srgbClr val="111111"/>
                </a:solidFill>
                <a:latin typeface="Avenir"/>
                <a:ea typeface="Avenir"/>
                <a:cs typeface="Avenir"/>
                <a:sym typeface="Avenir"/>
              </a:rPr>
              <a:t>Joah Gerstenberg</a:t>
            </a:r>
            <a:endParaRPr b="1" sz="1800">
              <a:solidFill>
                <a:srgbClr val="111111"/>
              </a:solidFill>
              <a:latin typeface="Avenir"/>
              <a:ea typeface="Avenir"/>
              <a:cs typeface="Avenir"/>
              <a:sym typeface="Avenir"/>
            </a:endParaRPr>
          </a:p>
          <a:p>
            <a:pPr indent="0" lvl="0" marL="0" rtl="0" algn="r">
              <a:lnSpc>
                <a:spcPct val="115000"/>
              </a:lnSpc>
              <a:spcBef>
                <a:spcPts val="0"/>
              </a:spcBef>
              <a:spcAft>
                <a:spcPts val="0"/>
              </a:spcAft>
              <a:buNone/>
            </a:pPr>
            <a:r>
              <a:rPr b="1" lang="en-US" sz="1200">
                <a:solidFill>
                  <a:srgbClr val="555555"/>
                </a:solidFill>
                <a:latin typeface="Avenir"/>
                <a:ea typeface="Avenir"/>
                <a:cs typeface="Avenir"/>
                <a:sym typeface="Avenir"/>
              </a:rPr>
              <a:t>TL, Risk-based Agent Autonomy</a:t>
            </a:r>
            <a:endParaRPr b="1" sz="1200">
              <a:solidFill>
                <a:srgbClr val="555555"/>
              </a:solidFill>
              <a:latin typeface="Avenir"/>
              <a:ea typeface="Avenir"/>
              <a:cs typeface="Avenir"/>
              <a:sym typeface="Avenir"/>
            </a:endParaRPr>
          </a:p>
        </p:txBody>
      </p:sp>
      <p:pic>
        <p:nvPicPr>
          <p:cNvPr id="43" name="Google Shape;43;p10"/>
          <p:cNvPicPr preferRelativeResize="0"/>
          <p:nvPr/>
        </p:nvPicPr>
        <p:blipFill>
          <a:blip r:embed="rId4">
            <a:alphaModFix amt="73000"/>
          </a:blip>
          <a:stretch>
            <a:fillRect/>
          </a:stretch>
        </p:blipFill>
        <p:spPr>
          <a:xfrm>
            <a:off x="9611454" y="6010821"/>
            <a:ext cx="237743" cy="237745"/>
          </a:xfrm>
          <a:prstGeom prst="rect">
            <a:avLst/>
          </a:prstGeom>
          <a:noFill/>
          <a:ln>
            <a:noFill/>
          </a:ln>
        </p:spPr>
      </p:pic>
      <p:pic>
        <p:nvPicPr>
          <p:cNvPr id="44" name="Google Shape;44;p10"/>
          <p:cNvPicPr preferRelativeResize="0"/>
          <p:nvPr/>
        </p:nvPicPr>
        <p:blipFill>
          <a:blip r:embed="rId5">
            <a:alphaModFix amt="73000"/>
          </a:blip>
          <a:stretch>
            <a:fillRect/>
          </a:stretch>
        </p:blipFill>
        <p:spPr>
          <a:xfrm>
            <a:off x="10102310" y="6001678"/>
            <a:ext cx="256032" cy="256032"/>
          </a:xfrm>
          <a:prstGeom prst="rect">
            <a:avLst/>
          </a:prstGeom>
          <a:noFill/>
          <a:ln>
            <a:noFill/>
          </a:ln>
        </p:spPr>
      </p:pic>
      <p:pic>
        <p:nvPicPr>
          <p:cNvPr id="45" name="Google Shape;45;p10"/>
          <p:cNvPicPr preferRelativeResize="0"/>
          <p:nvPr/>
        </p:nvPicPr>
        <p:blipFill>
          <a:blip r:embed="rId6">
            <a:alphaModFix amt="73000"/>
          </a:blip>
          <a:stretch>
            <a:fillRect/>
          </a:stretch>
        </p:blipFill>
        <p:spPr>
          <a:xfrm>
            <a:off x="10562556" y="6001678"/>
            <a:ext cx="256032" cy="256032"/>
          </a:xfrm>
          <a:prstGeom prst="rect">
            <a:avLst/>
          </a:prstGeom>
          <a:noFill/>
          <a:ln>
            <a:noFill/>
          </a:ln>
        </p:spPr>
      </p:pic>
      <p:pic>
        <p:nvPicPr>
          <p:cNvPr id="46" name="Google Shape;46;p10"/>
          <p:cNvPicPr preferRelativeResize="0"/>
          <p:nvPr/>
        </p:nvPicPr>
        <p:blipFill>
          <a:blip r:embed="rId7">
            <a:alphaModFix amt="73000"/>
          </a:blip>
          <a:stretch>
            <a:fillRect/>
          </a:stretch>
        </p:blipFill>
        <p:spPr>
          <a:xfrm>
            <a:off x="11022801" y="6044346"/>
            <a:ext cx="256026" cy="170695"/>
          </a:xfrm>
          <a:prstGeom prst="rect">
            <a:avLst/>
          </a:prstGeom>
          <a:noFill/>
          <a:ln>
            <a:noFill/>
          </a:ln>
        </p:spPr>
      </p:pic>
      <p:pic>
        <p:nvPicPr>
          <p:cNvPr id="47" name="Google Shape;47;p10"/>
          <p:cNvPicPr preferRelativeResize="0"/>
          <p:nvPr/>
        </p:nvPicPr>
        <p:blipFill>
          <a:blip r:embed="rId8">
            <a:alphaModFix amt="73000"/>
          </a:blip>
          <a:stretch>
            <a:fillRect/>
          </a:stretch>
        </p:blipFill>
        <p:spPr>
          <a:xfrm>
            <a:off x="11483040" y="5992533"/>
            <a:ext cx="274319" cy="274321"/>
          </a:xfrm>
          <a:prstGeom prst="rect">
            <a:avLst/>
          </a:prstGeom>
          <a:noFill/>
          <a:ln>
            <a:noFill/>
          </a:ln>
        </p:spPr>
      </p:pic>
      <p:sp>
        <p:nvSpPr>
          <p:cNvPr id="48" name="Google Shape;48;p10"/>
          <p:cNvSpPr txBox="1"/>
          <p:nvPr/>
        </p:nvSpPr>
        <p:spPr>
          <a:xfrm>
            <a:off x="8926350" y="6304284"/>
            <a:ext cx="3000000" cy="3387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1000">
                <a:solidFill>
                  <a:srgbClr val="555555"/>
                </a:solidFill>
                <a:latin typeface="Avenir"/>
                <a:ea typeface="Avenir"/>
                <a:cs typeface="Avenir"/>
                <a:sym typeface="Avenir"/>
              </a:rPr>
              <a:t>AGNTCon </a:t>
            </a:r>
            <a:r>
              <a:rPr lang="en-US" sz="1000">
                <a:solidFill>
                  <a:srgbClr val="555555"/>
                </a:solidFill>
                <a:latin typeface="Avenir"/>
                <a:ea typeface="Avenir"/>
                <a:cs typeface="Avenir"/>
                <a:sym typeface="Avenir"/>
              </a:rPr>
              <a:t>· San Jose · </a:t>
            </a:r>
            <a:r>
              <a:rPr lang="en-US" sz="1000">
                <a:solidFill>
                  <a:srgbClr val="555555"/>
                </a:solidFill>
                <a:latin typeface="Avenir"/>
                <a:ea typeface="Avenir"/>
                <a:cs typeface="Avenir"/>
                <a:sym typeface="Avenir"/>
              </a:rPr>
              <a:t>October 2026</a:t>
            </a:r>
            <a:endParaRPr sz="1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 name="Shape 53"/>
        <p:cNvGrpSpPr/>
        <p:nvPr/>
      </p:nvGrpSpPr>
      <p:grpSpPr>
        <a:xfrm>
          <a:off x="0" y="0"/>
          <a:ext cx="0" cy="0"/>
          <a:chOff x="0" y="0"/>
          <a:chExt cx="0" cy="0"/>
        </a:xfrm>
      </p:grpSpPr>
      <p:pic>
        <p:nvPicPr>
          <p:cNvPr id="54" name="Google Shape;54;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pic>
        <p:nvPicPr>
          <p:cNvPr id="60" name="Google Shape;60;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pic>
        <p:nvPicPr>
          <p:cNvPr id="72" name="Google Shape;72;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pic>
        <p:nvPicPr>
          <p:cNvPr id="78" name="Google Shape;78;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id="84" name="Google Shape;84;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5" name="Google Shape;85;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6" name="Google Shape;86;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 name="Shape 91"/>
        <p:cNvGrpSpPr/>
        <p:nvPr/>
      </p:nvGrpSpPr>
      <p:grpSpPr>
        <a:xfrm>
          <a:off x="0" y="0"/>
          <a:ext cx="0" cy="0"/>
          <a:chOff x="0" y="0"/>
          <a:chExt cx="0" cy="0"/>
        </a:xfrm>
      </p:grpSpPr>
      <p:pic>
        <p:nvPicPr>
          <p:cNvPr id="92" name="Google Shape;92;p17" title="worst-comment-v78.png"/>
          <p:cNvPicPr preferRelativeResize="0"/>
          <p:nvPr/>
        </p:nvPicPr>
        <p:blipFill rotWithShape="1">
          <a:blip r:embed="rId3">
            <a:alphaModFix/>
          </a:blip>
          <a:srcRect b="20" l="0" r="0" t="10"/>
          <a:stretch/>
        </p:blipFill>
        <p:spPr>
          <a:xfrm>
            <a:off x="0" y="0"/>
            <a:ext cx="12188951" cy="6858001"/>
          </a:xfrm>
          <a:prstGeom prst="rect">
            <a:avLst/>
          </a:prstGeom>
          <a:noFill/>
          <a:ln>
            <a:noFill/>
          </a:ln>
        </p:spPr>
      </p:pic>
      <p:sp>
        <p:nvSpPr>
          <p:cNvPr id="93" name="Google Shape;93;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id="99" name="Google Shape;99;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0" name="Google Shape;100;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1" name="Google Shape;101;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6" name="Shape 106"/>
        <p:cNvGrpSpPr/>
        <p:nvPr/>
      </p:nvGrpSpPr>
      <p:grpSpPr>
        <a:xfrm>
          <a:off x="0" y="0"/>
          <a:ext cx="0" cy="0"/>
          <a:chOff x="0" y="0"/>
          <a:chExt cx="0" cy="0"/>
        </a:xfrm>
      </p:grpSpPr>
      <p:sp>
        <p:nvSpPr>
          <p:cNvPr id="107" name="Google Shape;107;p19"/>
          <p:cNvSpPr txBox="1"/>
          <p:nvPr/>
        </p:nvSpPr>
        <p:spPr>
          <a:xfrm>
            <a:off x="619233" y="2351560"/>
            <a:ext cx="49836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OFFLINE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Compare findings with an answer key</a:t>
            </a:r>
            <a:endParaRPr sz="3200">
              <a:solidFill>
                <a:srgbClr val="FFFFFF"/>
              </a:solidFill>
              <a:latin typeface="Short Stack"/>
              <a:ea typeface="Short Stack"/>
              <a:cs typeface="Short Stack"/>
              <a:sym typeface="Short Stack"/>
            </a:endParaRPr>
          </a:p>
        </p:txBody>
      </p:sp>
      <p:sp>
        <p:nvSpPr>
          <p:cNvPr id="108" name="Google Shape;108;p19"/>
          <p:cNvSpPr txBox="1"/>
          <p:nvPr/>
        </p:nvSpPr>
        <p:spPr>
          <a:xfrm>
            <a:off x="5955287" y="2351550"/>
            <a:ext cx="56175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ONLINE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Observe what happens in production</a:t>
            </a:r>
            <a:endParaRPr sz="3200">
              <a:solidFill>
                <a:srgbClr val="FFFFFF"/>
              </a:solidFill>
              <a:latin typeface="Short Stack"/>
              <a:ea typeface="Short Stack"/>
              <a:cs typeface="Short Stack"/>
              <a:sym typeface="Short St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3" name="Shape 113"/>
        <p:cNvGrpSpPr/>
        <p:nvPr/>
      </p:nvGrpSpPr>
      <p:grpSpPr>
        <a:xfrm>
          <a:off x="0" y="0"/>
          <a:ext cx="0" cy="0"/>
          <a:chOff x="0" y="0"/>
          <a:chExt cx="0" cy="0"/>
        </a:xfrm>
      </p:grpSpPr>
      <p:sp>
        <p:nvSpPr>
          <p:cNvPr id="114" name="Google Shape;114;p20"/>
          <p:cNvSpPr txBox="1"/>
          <p:nvPr/>
        </p:nvSpPr>
        <p:spPr>
          <a:xfrm>
            <a:off x="74679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PRECISION</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Valid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positives)</a:t>
            </a:r>
            <a:endParaRPr sz="1900">
              <a:solidFill>
                <a:srgbClr val="FFFFFF"/>
              </a:solidFill>
              <a:latin typeface="Short Stack"/>
              <a:ea typeface="Short Stack"/>
              <a:cs typeface="Short Stack"/>
              <a:sym typeface="Short Stack"/>
            </a:endParaRPr>
          </a:p>
        </p:txBody>
      </p:sp>
      <p:sp>
        <p:nvSpPr>
          <p:cNvPr id="115" name="Google Shape;115;p20"/>
          <p:cNvSpPr txBox="1"/>
          <p:nvPr/>
        </p:nvSpPr>
        <p:spPr>
          <a:xfrm>
            <a:off x="650751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RECALL</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Known defects found</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known defects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negatives)</a:t>
            </a:r>
            <a:endParaRPr sz="1900">
              <a:solidFill>
                <a:srgbClr val="FFFFFF"/>
              </a:solidFill>
              <a:latin typeface="Short Stack"/>
              <a:ea typeface="Short Stack"/>
              <a:cs typeface="Short Stack"/>
              <a:sym typeface="Short Stack"/>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21"/>
          <p:cNvSpPr txBox="1"/>
          <p:nvPr/>
        </p:nvSpPr>
        <p:spPr>
          <a:xfrm>
            <a:off x="746783" y="1874410"/>
            <a:ext cx="49377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ADDRESS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Findings acted on</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All settled findings</a:t>
            </a:r>
            <a:endParaRPr sz="2500">
              <a:solidFill>
                <a:srgbClr val="FFFFFF"/>
              </a:solidFill>
              <a:latin typeface="Short Stack"/>
              <a:ea typeface="Short Stack"/>
              <a:cs typeface="Short Stack"/>
              <a:sym typeface="Short Stack"/>
            </a:endParaRPr>
          </a:p>
        </p:txBody>
      </p:sp>
      <p:sp>
        <p:nvSpPr>
          <p:cNvPr id="122" name="Google Shape;122;p21"/>
          <p:cNvSpPr txBox="1"/>
          <p:nvPr/>
        </p:nvSpPr>
        <p:spPr>
          <a:xfrm>
            <a:off x="6507502" y="1874410"/>
            <a:ext cx="4937700" cy="310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CHANGE FAIL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Changes from findings</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later fixed or reverted</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All changes made</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from findings</a:t>
            </a:r>
            <a:endParaRPr sz="2300">
              <a:solidFill>
                <a:srgbClr val="FFFFFF"/>
              </a:solidFill>
              <a:latin typeface="Short Stack"/>
              <a:ea typeface="Short Stack"/>
              <a:cs typeface="Short Stack"/>
              <a:sym typeface="Short Stack"/>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29" name="Google Shape;129;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30" name="Google Shape;130;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pic>
        <p:nvPicPr>
          <p:cNvPr id="136" name="Google Shape;136;p23" title="address-rate-milestones-final-v79.png"/>
          <p:cNvPicPr preferRelativeResize="0"/>
          <p:nvPr/>
        </p:nvPicPr>
        <p:blipFill rotWithShape="1">
          <a:blip r:embed="rId4">
            <a:alphaModFix/>
          </a:blip>
          <a:srcRect b="50" l="0" r="0" t="40"/>
          <a:stretch/>
        </p:blipFill>
        <p:spPr>
          <a:xfrm>
            <a:off x="886968" y="374904"/>
            <a:ext cx="10378441" cy="5184648"/>
          </a:xfrm>
          <a:prstGeom prst="rect">
            <a:avLst/>
          </a:prstGeom>
          <a:noFill/>
          <a:ln>
            <a:noFill/>
          </a:ln>
        </p:spPr>
      </p:pic>
      <p:sp>
        <p:nvSpPr>
          <p:cNvPr id="137" name="Google Shape;137;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38" name="Google Shape;138;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pic>
        <p:nvPicPr>
          <p:cNvPr id="144" name="Google Shape;144;p24" title="reviewbench-black-v76.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145" name="Google Shape;145;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FFFFFF"/>
                </a:solidFill>
                <a:latin typeface="Avenir"/>
                <a:ea typeface="Avenir"/>
                <a:cs typeface="Avenir"/>
                <a:sym typeface="Avenir"/>
              </a:rPr>
              <a:t>Block internal data</a:t>
            </a:r>
            <a:endParaRPr>
              <a:solidFill>
                <a:srgbClr val="FFFFFF"/>
              </a:solidFill>
            </a:endParaRPr>
          </a:p>
        </p:txBody>
      </p:sp>
      <p:pic>
        <p:nvPicPr>
          <p:cNvPr id="146" name="Google Shape;146;p24" title="source-17-0.jpg">
            <a:hlinkClick r:id="rId4"/>
          </p:cNvPr>
          <p:cNvPicPr preferRelativeResize="0"/>
          <p:nvPr/>
        </p:nvPicPr>
        <p:blipFill rotWithShape="1">
          <a:blip r:embed="rId5">
            <a:alphaModFix/>
          </a:blip>
          <a:srcRect b="8147" l="0" r="0" t="0"/>
          <a:stretch/>
        </p:blipFill>
        <p:spPr>
          <a:xfrm>
            <a:off x="2404875" y="1709925"/>
            <a:ext cx="7406624" cy="382980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pic>
        <p:nvPicPr>
          <p:cNvPr id="152" name="Google Shape;152;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3" name="Google Shape;153;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pic>
        <p:nvPicPr>
          <p:cNvPr id="159" name="Google Shape;159;p26" title="specialists-v74.png"/>
          <p:cNvPicPr preferRelativeResize="0"/>
          <p:nvPr/>
        </p:nvPicPr>
        <p:blipFill rotWithShape="1">
          <a:blip r:embed="rId3">
            <a:alphaModFix/>
          </a:blip>
          <a:srcRect b="10197" l="0" r="0" t="10197"/>
          <a:stretch/>
        </p:blipFill>
        <p:spPr>
          <a:xfrm>
            <a:off x="1762479" y="1154185"/>
            <a:ext cx="8667042" cy="3882879"/>
          </a:xfrm>
          <a:prstGeom prst="rect">
            <a:avLst/>
          </a:prstGeom>
          <a:noFill/>
          <a:ln>
            <a:noFill/>
          </a:ln>
        </p:spPr>
      </p:pic>
      <p:sp>
        <p:nvSpPr>
          <p:cNvPr id="160" name="Google Shape;160;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61" name="Google Shape;161;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 name="Shape 166"/>
        <p:cNvGrpSpPr/>
        <p:nvPr/>
      </p:nvGrpSpPr>
      <p:grpSpPr>
        <a:xfrm>
          <a:off x="0" y="0"/>
          <a:ext cx="0" cy="0"/>
          <a:chOff x="0" y="0"/>
          <a:chExt cx="0" cy="0"/>
        </a:xfrm>
      </p:grpSpPr>
      <p:pic>
        <p:nvPicPr>
          <p:cNvPr id="167" name="Google Shape;167;p27" title="architecture-clean-v74.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168" name="Google Shape;168;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69" name="Google Shape;169;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74" name="Shape 174"/>
        <p:cNvGrpSpPr/>
        <p:nvPr/>
      </p:nvGrpSpPr>
      <p:grpSpPr>
        <a:xfrm>
          <a:off x="0" y="0"/>
          <a:ext cx="0" cy="0"/>
          <a:chOff x="0" y="0"/>
          <a:chExt cx="0" cy="0"/>
        </a:xfrm>
      </p:grpSpPr>
      <p:sp>
        <p:nvSpPr>
          <p:cNvPr id="175" name="Google Shape;175;p28"/>
          <p:cNvSpPr/>
          <p:nvPr/>
        </p:nvSpPr>
        <p:spPr>
          <a:xfrm>
            <a:off x="1161288" y="365760"/>
            <a:ext cx="98754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2100">
                <a:solidFill>
                  <a:srgbClr val="FFFFFF"/>
                </a:solidFill>
                <a:latin typeface="Short Stack"/>
                <a:ea typeface="Short Stack"/>
                <a:cs typeface="Short Stack"/>
                <a:sym typeface="Short Stack"/>
              </a:rPr>
              <a:t>Grounded precision and recall</a:t>
            </a:r>
            <a:endParaRPr>
              <a:solidFill>
                <a:srgbClr val="FFFFFF"/>
              </a:solidFill>
            </a:endParaRPr>
          </a:p>
        </p:txBody>
      </p:sp>
      <p:sp>
        <p:nvSpPr>
          <p:cNvPr id="176" name="Google Shape;176;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ReviewBench · grounded scores</a:t>
            </a:r>
            <a:endParaRPr>
              <a:solidFill>
                <a:srgbClr val="FFFFFF"/>
              </a:solidFill>
            </a:endParaRPr>
          </a:p>
        </p:txBody>
      </p:sp>
      <p:pic>
        <p:nvPicPr>
          <p:cNvPr id="177" name="Google Shape;177;p28"/>
          <p:cNvPicPr preferRelativeResize="0"/>
          <p:nvPr/>
        </p:nvPicPr>
        <p:blipFill>
          <a:blip r:embed="rId5">
            <a:alphaModFix/>
          </a:blip>
          <a:stretch>
            <a:fillRect/>
          </a:stretch>
        </p:blipFill>
        <p:spPr>
          <a:xfrm>
            <a:off x="594360" y="960120"/>
            <a:ext cx="10789919" cy="5303521"/>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pic>
        <p:nvPicPr>
          <p:cNvPr id="183" name="Google Shape;183;p29" title="tiering-v74.png"/>
          <p:cNvPicPr preferRelativeResize="0"/>
          <p:nvPr/>
        </p:nvPicPr>
        <p:blipFill rotWithShape="1">
          <a:blip r:embed="rId3">
            <a:alphaModFix/>
          </a:blip>
          <a:srcRect b="10" l="0" r="0" t="10"/>
          <a:stretch/>
        </p:blipFill>
        <p:spPr>
          <a:xfrm>
            <a:off x="804672" y="0"/>
            <a:ext cx="10579609" cy="5952745"/>
          </a:xfrm>
          <a:prstGeom prst="rect">
            <a:avLst/>
          </a:prstGeom>
          <a:noFill/>
          <a:ln>
            <a:noFill/>
          </a:ln>
        </p:spPr>
      </p:pic>
      <p:sp>
        <p:nvSpPr>
          <p:cNvPr id="184" name="Google Shape;184;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85" name="Google Shape;185;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30"/>
          <p:cNvSpPr/>
          <p:nvPr/>
        </p:nvSpPr>
        <p:spPr>
          <a:xfrm>
            <a:off x="685800" y="1977875"/>
            <a:ext cx="4953600" cy="27939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Irreversible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product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92" name="Google Shape;192;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93" name="Google Shape;193;p30"/>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pic>
        <p:nvPicPr>
          <p:cNvPr id="199" name="Google Shape;199;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pic>
        <p:nvPicPr>
          <p:cNvPr id="205" name="Google Shape;205;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06" name="Google Shape;206;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pic>
        <p:nvPicPr>
          <p:cNvPr id="212" name="Google Shape;212;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13" name="Google Shape;213;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4" name="Google Shape;214;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19" name="Shape 219"/>
        <p:cNvGrpSpPr/>
        <p:nvPr/>
      </p:nvGrpSpPr>
      <p:grpSpPr>
        <a:xfrm>
          <a:off x="0" y="0"/>
          <a:ext cx="0" cy="0"/>
          <a:chOff x="0" y="0"/>
          <a:chExt cx="0" cy="0"/>
        </a:xfrm>
      </p:grpSpPr>
      <p:sp>
        <p:nvSpPr>
          <p:cNvPr id="220" name="Google Shape;220;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Prioritize precision</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over recall</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5" name="Shape 225"/>
        <p:cNvGrpSpPr/>
        <p:nvPr/>
      </p:nvGrpSpPr>
      <p:grpSpPr>
        <a:xfrm>
          <a:off x="0" y="0"/>
          <a:ext cx="0" cy="0"/>
          <a:chOff x="0" y="0"/>
          <a:chExt cx="0" cy="0"/>
        </a:xfrm>
      </p:grpSpPr>
      <p:sp>
        <p:nvSpPr>
          <p:cNvPr id="226" name="Google Shape;226;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Give your agents</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the big picture</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31" name="Shape 231"/>
        <p:cNvGrpSpPr/>
        <p:nvPr/>
      </p:nvGrpSpPr>
      <p:grpSpPr>
        <a:xfrm>
          <a:off x="0" y="0"/>
          <a:ext cx="0" cy="0"/>
          <a:chOff x="0" y="0"/>
          <a:chExt cx="0" cy="0"/>
        </a:xfrm>
      </p:grpSpPr>
      <p:sp>
        <p:nvSpPr>
          <p:cNvPr id="232" name="Google Shape;232;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Build alignment</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before the code is written</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 name="Shape 237"/>
        <p:cNvGrpSpPr/>
        <p:nvPr/>
      </p:nvGrpSpPr>
      <p:grpSpPr>
        <a:xfrm>
          <a:off x="0" y="0"/>
          <a:ext cx="0" cy="0"/>
          <a:chOff x="0" y="0"/>
          <a:chExt cx="0" cy="0"/>
        </a:xfrm>
      </p:grpSpPr>
      <p:pic>
        <p:nvPicPr>
          <p:cNvPr id="238" name="Google Shape;238;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39" name="Google Shape;239;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40" name="Google Shape;240;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